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1.svg" ContentType="image/svg+xml"/>
  <Override PartName="/ppt/media/image3.svg" ContentType="image/svg+xml"/>
  <Override PartName="/ppt/media/image5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5"/>
  </p:notesMasterIdLst>
  <p:sldIdLst>
    <p:sldId id="270" r:id="rId3"/>
    <p:sldId id="271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5960" y="360000"/>
            <a:ext cx="10800000" cy="720000"/>
          </a:xfrm>
        </p:spPr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95960" y="6356350"/>
            <a:ext cx="2743200" cy="365125"/>
          </a:xfrm>
        </p:spPr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753983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12.xml"/><Relationship Id="rId8" Type="http://schemas.openxmlformats.org/officeDocument/2006/relationships/tags" Target="../tags/tag11.xml"/><Relationship Id="rId7" Type="http://schemas.openxmlformats.org/officeDocument/2006/relationships/tags" Target="../tags/tag10.xml"/><Relationship Id="rId6" Type="http://schemas.openxmlformats.org/officeDocument/2006/relationships/tags" Target="../tags/tag9.xml"/><Relationship Id="rId5" Type="http://schemas.openxmlformats.org/officeDocument/2006/relationships/tags" Target="../tags/tag8.xml"/><Relationship Id="rId4" Type="http://schemas.openxmlformats.org/officeDocument/2006/relationships/tags" Target="../tags/tag7.xml"/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21.xml"/><Relationship Id="rId8" Type="http://schemas.openxmlformats.org/officeDocument/2006/relationships/tags" Target="../tags/tag20.xml"/><Relationship Id="rId7" Type="http://schemas.openxmlformats.org/officeDocument/2006/relationships/tags" Target="../tags/tag19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4" Type="http://schemas.openxmlformats.org/officeDocument/2006/relationships/notesSlide" Target="../notesSlides/notesSlide1.xml"/><Relationship Id="rId43" Type="http://schemas.openxmlformats.org/officeDocument/2006/relationships/slideLayout" Target="../slideLayouts/slideLayout2.xml"/><Relationship Id="rId42" Type="http://schemas.openxmlformats.org/officeDocument/2006/relationships/tags" Target="../tags/tag44.xml"/><Relationship Id="rId41" Type="http://schemas.openxmlformats.org/officeDocument/2006/relationships/image" Target="../media/image11.svg"/><Relationship Id="rId40" Type="http://schemas.openxmlformats.org/officeDocument/2006/relationships/image" Target="../media/image10.png"/><Relationship Id="rId4" Type="http://schemas.openxmlformats.org/officeDocument/2006/relationships/tags" Target="../tags/tag16.xml"/><Relationship Id="rId39" Type="http://schemas.openxmlformats.org/officeDocument/2006/relationships/tags" Target="../tags/tag43.xml"/><Relationship Id="rId38" Type="http://schemas.openxmlformats.org/officeDocument/2006/relationships/image" Target="../media/image9.svg"/><Relationship Id="rId37" Type="http://schemas.openxmlformats.org/officeDocument/2006/relationships/image" Target="../media/image8.png"/><Relationship Id="rId36" Type="http://schemas.openxmlformats.org/officeDocument/2006/relationships/tags" Target="../tags/tag42.xml"/><Relationship Id="rId35" Type="http://schemas.openxmlformats.org/officeDocument/2006/relationships/image" Target="../media/image7.svg"/><Relationship Id="rId34" Type="http://schemas.openxmlformats.org/officeDocument/2006/relationships/image" Target="../media/image6.png"/><Relationship Id="rId33" Type="http://schemas.openxmlformats.org/officeDocument/2006/relationships/tags" Target="../tags/tag41.xml"/><Relationship Id="rId32" Type="http://schemas.openxmlformats.org/officeDocument/2006/relationships/image" Target="../media/image5.svg"/><Relationship Id="rId31" Type="http://schemas.openxmlformats.org/officeDocument/2006/relationships/image" Target="../media/image4.png"/><Relationship Id="rId30" Type="http://schemas.openxmlformats.org/officeDocument/2006/relationships/tags" Target="../tags/tag40.xml"/><Relationship Id="rId3" Type="http://schemas.openxmlformats.org/officeDocument/2006/relationships/tags" Target="../tags/tag15.xml"/><Relationship Id="rId29" Type="http://schemas.openxmlformats.org/officeDocument/2006/relationships/image" Target="../media/image3.svg"/><Relationship Id="rId28" Type="http://schemas.openxmlformats.org/officeDocument/2006/relationships/image" Target="../media/image2.png"/><Relationship Id="rId27" Type="http://schemas.openxmlformats.org/officeDocument/2006/relationships/tags" Target="../tags/tag39.xml"/><Relationship Id="rId26" Type="http://schemas.openxmlformats.org/officeDocument/2006/relationships/tags" Target="../tags/tag38.xml"/><Relationship Id="rId25" Type="http://schemas.openxmlformats.org/officeDocument/2006/relationships/tags" Target="../tags/tag37.xml"/><Relationship Id="rId24" Type="http://schemas.openxmlformats.org/officeDocument/2006/relationships/tags" Target="../tags/tag36.xml"/><Relationship Id="rId23" Type="http://schemas.openxmlformats.org/officeDocument/2006/relationships/tags" Target="../tags/tag35.xml"/><Relationship Id="rId22" Type="http://schemas.openxmlformats.org/officeDocument/2006/relationships/tags" Target="../tags/tag34.xml"/><Relationship Id="rId21" Type="http://schemas.openxmlformats.org/officeDocument/2006/relationships/tags" Target="../tags/tag33.xml"/><Relationship Id="rId20" Type="http://schemas.openxmlformats.org/officeDocument/2006/relationships/tags" Target="../tags/tag32.xml"/><Relationship Id="rId2" Type="http://schemas.openxmlformats.org/officeDocument/2006/relationships/tags" Target="../tags/tag14.xml"/><Relationship Id="rId19" Type="http://schemas.openxmlformats.org/officeDocument/2006/relationships/tags" Target="../tags/tag31.xml"/><Relationship Id="rId18" Type="http://schemas.openxmlformats.org/officeDocument/2006/relationships/tags" Target="../tags/tag30.xml"/><Relationship Id="rId17" Type="http://schemas.openxmlformats.org/officeDocument/2006/relationships/tags" Target="../tags/tag29.xml"/><Relationship Id="rId16" Type="http://schemas.openxmlformats.org/officeDocument/2006/relationships/tags" Target="../tags/tag28.xml"/><Relationship Id="rId15" Type="http://schemas.openxmlformats.org/officeDocument/2006/relationships/tags" Target="../tags/tag27.xml"/><Relationship Id="rId14" Type="http://schemas.openxmlformats.org/officeDocument/2006/relationships/tags" Target="../tags/tag26.xml"/><Relationship Id="rId13" Type="http://schemas.openxmlformats.org/officeDocument/2006/relationships/tags" Target="../tags/tag25.xml"/><Relationship Id="rId12" Type="http://schemas.openxmlformats.org/officeDocument/2006/relationships/tags" Target="../tags/tag24.xml"/><Relationship Id="rId11" Type="http://schemas.openxmlformats.org/officeDocument/2006/relationships/tags" Target="../tags/tag23.xml"/><Relationship Id="rId10" Type="http://schemas.openxmlformats.org/officeDocument/2006/relationships/tags" Target="../tags/tag22.xml"/><Relationship Id="rId1" Type="http://schemas.openxmlformats.org/officeDocument/2006/relationships/tags" Target="../tags/tag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18"/>
          <p:cNvSpPr/>
          <p:nvPr/>
        </p:nvSpPr>
        <p:spPr>
          <a:xfrm>
            <a:off x="914400" y="6163056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p>
            <a:pPr marL="0" indent="0">
              <a:buNone/>
            </a:pPr>
            <a:r>
              <a:rPr lang="en-US" sz="880" dirty="0">
                <a:solidFill>
                  <a:schemeClr val="tx1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MoKangMedical  健康管理项目组</a:t>
            </a:r>
            <a:endParaRPr lang="en-US" sz="880" dirty="0">
              <a:solidFill>
                <a:schemeClr val="tx1"/>
              </a:solidFill>
              <a:latin typeface="Verdana" panose="020B0804030504040204" pitchFamily="34" charset="0"/>
              <a:ea typeface="Verdana" panose="020B0804030504040204" pitchFamily="34" charset="-122"/>
              <a:cs typeface="Verdana" panose="020B0804030504040204" pitchFamily="34" charset="-12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914400" y="5888736"/>
            <a:ext cx="448056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p>
            <a:pPr marL="0" indent="0">
              <a:buNone/>
            </a:pPr>
            <a:r>
              <a:rPr lang="en-US" sz="940" dirty="0">
                <a:solidFill>
                  <a:schemeClr val="tx1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适用场景：比赛路演 / 医院立项 / 卫健委试点 / 投资人初次沟通</a:t>
            </a:r>
            <a:endParaRPr lang="en-US" sz="940" dirty="0">
              <a:solidFill>
                <a:schemeClr val="tx1"/>
              </a:solidFill>
              <a:latin typeface="Verdana" panose="020B0804030504040204" pitchFamily="34" charset="0"/>
              <a:ea typeface="Verdana" panose="020B0804030504040204" pitchFamily="34" charset="-122"/>
              <a:cs typeface="Verdana" panose="020B0804030504040204" pitchFamily="34" charset="-120"/>
            </a:endParaRPr>
          </a:p>
        </p:txBody>
      </p:sp>
      <p:sp>
        <p:nvSpPr>
          <p:cNvPr id="5" name="Text 15"/>
          <p:cNvSpPr/>
          <p:nvPr/>
        </p:nvSpPr>
        <p:spPr>
          <a:xfrm>
            <a:off x="1115568" y="4041648"/>
            <a:ext cx="3877056" cy="7863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把慢病管理从“诊后提醒”升级为“持续分层、持续干预、持续协同”。</a:t>
            </a:r>
            <a:endParaRPr lang="en-US" sz="11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以区级总览、医院管理视图和医生工作台三层结构，承接长期管理执行闭环。</a:t>
            </a:r>
            <a:endParaRPr lang="en-US" sz="1100" dirty="0">
              <a:solidFill>
                <a:schemeClr val="tx1"/>
              </a:solidFill>
              <a:latin typeface="Verdana" panose="020B0804030504040204" pitchFamily="34" charset="0"/>
              <a:ea typeface="Verdana" panose="020B0804030504040204" pitchFamily="34" charset="-122"/>
              <a:cs typeface="Verdana" panose="020B0804030504040204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059936" y="3127248"/>
            <a:ext cx="1481328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p>
            <a:pPr marL="0" indent="0" algn="ctr">
              <a:buNone/>
            </a:pPr>
            <a:r>
              <a:rPr lang="en-US" sz="900" b="1" dirty="0">
                <a:solidFill>
                  <a:schemeClr val="tx1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TemporAI / PyHealth</a:t>
            </a:r>
            <a:endParaRPr lang="en-US" sz="900" b="1" dirty="0">
              <a:solidFill>
                <a:schemeClr val="tx1"/>
              </a:solidFill>
              <a:latin typeface="Verdana" panose="020B0804030504040204" pitchFamily="34" charset="0"/>
              <a:ea typeface="Verdana" panose="020B0804030504040204" pitchFamily="34" charset="-122"/>
              <a:cs typeface="Verdana" panose="020B0804030504040204" pitchFamily="34" charset="-120"/>
            </a:endParaRPr>
          </a:p>
        </p:txBody>
      </p:sp>
      <p:sp>
        <p:nvSpPr>
          <p:cNvPr id="4" name="Text 11"/>
          <p:cNvSpPr/>
          <p:nvPr/>
        </p:nvSpPr>
        <p:spPr>
          <a:xfrm>
            <a:off x="2359152" y="3127248"/>
            <a:ext cx="1572768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p>
            <a:pPr marL="0" indent="0" algn="ctr">
              <a:buNone/>
            </a:pPr>
            <a:r>
              <a:rPr lang="en-US" sz="900" b="1" dirty="0">
                <a:solidFill>
                  <a:schemeClr val="tx1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FHIR / SMART on FHIR</a:t>
            </a:r>
            <a:endParaRPr lang="en-US" sz="900" b="1" dirty="0">
              <a:solidFill>
                <a:schemeClr val="tx1"/>
              </a:solidFill>
              <a:latin typeface="Verdana" panose="020B0804030504040204" pitchFamily="34" charset="0"/>
              <a:ea typeface="Verdana" panose="020B0804030504040204" pitchFamily="34" charset="-122"/>
              <a:cs typeface="Verdana" panose="020B0804030504040204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32688" y="3127248"/>
            <a:ext cx="1298448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p>
            <a:pPr marL="0" indent="0" algn="ctr">
              <a:buNone/>
            </a:pPr>
            <a:r>
              <a:rPr lang="en-US" sz="900" b="1" dirty="0">
                <a:solidFill>
                  <a:schemeClr val="tx1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OpenClaw 多智能体</a:t>
            </a:r>
            <a:endParaRPr lang="en-US" sz="900" b="1" dirty="0">
              <a:solidFill>
                <a:schemeClr val="tx1"/>
              </a:solidFill>
              <a:latin typeface="Verdana" panose="020B0804030504040204" pitchFamily="34" charset="0"/>
              <a:ea typeface="Verdana" panose="020B0804030504040204" pitchFamily="34" charset="-122"/>
              <a:cs typeface="Verdana" panose="020B0804030504040204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932688" y="2596896"/>
            <a:ext cx="356616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p>
            <a:pPr marL="0" indent="0">
              <a:buNone/>
            </a:pPr>
            <a:r>
              <a:rPr lang="en-US" sz="1080" dirty="0">
                <a:solidFill>
                  <a:schemeClr val="tx1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面向医院与区域卫生场景的智能慢病管理平台</a:t>
            </a:r>
            <a:endParaRPr lang="en-US" sz="1080" dirty="0">
              <a:solidFill>
                <a:schemeClr val="tx1"/>
              </a:solidFill>
              <a:latin typeface="Verdana" panose="020B0804030504040204" pitchFamily="34" charset="0"/>
              <a:ea typeface="Verdana" panose="020B0804030504040204" pitchFamily="34" charset="-122"/>
              <a:cs typeface="Verdana" panose="020B0804030504040204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9985248" y="310896"/>
            <a:ext cx="1536192" cy="109728"/>
          </a:xfrm>
          <a:prstGeom prst="rect">
            <a:avLst/>
          </a:prstGeom>
          <a:noFill/>
        </p:spPr>
        <p:txBody>
          <a:bodyPr wrap="square" rtlCol="0" anchor="ctr"/>
          <a:p>
            <a:pPr marL="0" indent="0" algn="r">
              <a:buNone/>
            </a:pPr>
            <a:r>
              <a:rPr lang="en-US" sz="780" dirty="0">
                <a:solidFill>
                  <a:schemeClr val="tx1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LinkClaw Hackathon</a:t>
            </a:r>
            <a:endParaRPr lang="en-US" sz="780" dirty="0">
              <a:solidFill>
                <a:schemeClr val="tx1"/>
              </a:solidFill>
              <a:latin typeface="Verdana" panose="020B0804030504040204" pitchFamily="34" charset="0"/>
              <a:ea typeface="Verdana" panose="020B0804030504040204" pitchFamily="34" charset="-122"/>
              <a:cs typeface="Verdana" panose="020B08040305040402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076688" y="164592"/>
            <a:ext cx="1371600" cy="128016"/>
          </a:xfrm>
          <a:prstGeom prst="rect">
            <a:avLst/>
          </a:prstGeom>
          <a:noFill/>
        </p:spPr>
        <p:txBody>
          <a:bodyPr wrap="square" rtlCol="0" anchor="ctr"/>
          <a:p>
            <a:pPr marL="0" indent="0" algn="r">
              <a:buNone/>
            </a:pPr>
            <a:r>
              <a:rPr lang="en-US" sz="1080" b="1" dirty="0">
                <a:solidFill>
                  <a:schemeClr val="tx1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灵核AI虾客松</a:t>
            </a:r>
            <a:endParaRPr lang="en-US" sz="1080" b="1" dirty="0">
              <a:solidFill>
                <a:schemeClr val="tx1"/>
              </a:solidFill>
              <a:latin typeface="Verdana" panose="020B0804030504040204" pitchFamily="34" charset="0"/>
              <a:ea typeface="Verdana" panose="020B0804030504040204" pitchFamily="34" charset="-122"/>
              <a:cs typeface="Verdana" panose="020B0804030504040204" pitchFamily="34" charset="-120"/>
            </a:endParaRPr>
          </a:p>
        </p:txBody>
      </p:sp>
      <p:sp>
        <p:nvSpPr>
          <p:cNvPr id="3" name="Shape 16"/>
          <p:cNvSpPr/>
          <p:nvPr/>
        </p:nvSpPr>
        <p:spPr>
          <a:xfrm>
            <a:off x="6492240" y="786384"/>
            <a:ext cx="4937760" cy="5449824"/>
          </a:xfrm>
          <a:prstGeom prst="roundRect">
            <a:avLst>
              <a:gd name="adj" fmla="val 2963"/>
            </a:avLst>
          </a:prstGeom>
          <a:solidFill>
            <a:schemeClr val="accent2"/>
          </a:solidFill>
          <a:ln w="12700">
            <a:solidFill>
              <a:schemeClr val="accent3"/>
            </a:solidFill>
            <a:prstDash val="solid"/>
          </a:ln>
          <a:effectLst>
            <a:outerShdw blurRad="25400" dist="635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9" name="Image 0" descr="/Users/linzhang/Desktop/      OPC/健康管理/demo-ppt/assets/hero-intr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47104" y="3157518"/>
            <a:ext cx="4828032" cy="707556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2174240" y="1833880"/>
            <a:ext cx="8103870" cy="3234690"/>
          </a:xfrm>
        </p:spPr>
        <p:txBody>
          <a:bodyPr/>
          <a:lstStyle/>
          <a:p>
            <a:pPr marL="0" indent="0" algn="ctr" fontAlgn="auto">
              <a:lnSpc>
                <a:spcPct val="150000"/>
              </a:lnSpc>
            </a:pPr>
            <a:r>
              <a:rPr lang="zh-CN" altLang="en-US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sym typeface="+mn-ea"/>
              </a:rPr>
              <a:t>慢病风险分层、行为干预与</a:t>
            </a:r>
            <a:r>
              <a:rPr lang="en-US" altLang="zh-CN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sym typeface="+mn-ea"/>
              </a:rPr>
              <a:t> MDT </a:t>
            </a:r>
            <a:r>
              <a:rPr lang="zh-CN" altLang="en-US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sym typeface="+mn-ea"/>
              </a:rPr>
              <a:t>在线协作平台</a:t>
            </a:r>
            <a:endParaRPr lang="zh-CN" altLang="en-US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sym typeface="+mn-ea"/>
            </a:endParaRPr>
          </a:p>
        </p:txBody>
      </p:sp>
      <p:sp>
        <p:nvSpPr>
          <p:cNvPr id="12" name="任意多边形: 形状 9"/>
          <p:cNvSpPr/>
          <p:nvPr>
            <p:custDataLst>
              <p:tags r:id="rId3"/>
            </p:custDataLst>
          </p:nvPr>
        </p:nvSpPr>
        <p:spPr>
          <a:xfrm rot="5400000">
            <a:off x="1639570" y="1515110"/>
            <a:ext cx="716280" cy="14605"/>
          </a:xfrm>
          <a:custGeom>
            <a:avLst/>
            <a:gdLst>
              <a:gd name="connsiteX0" fmla="*/ -24 w 476250"/>
              <a:gd name="connsiteY0" fmla="*/ 26 h 9525"/>
              <a:gd name="connsiteX1" fmla="*/ 476226 w 476250"/>
              <a:gd name="connsiteY1" fmla="*/ 26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76250" h="9525">
                <a:moveTo>
                  <a:pt x="-24" y="26"/>
                </a:moveTo>
                <a:lnTo>
                  <a:pt x="476226" y="26"/>
                </a:lnTo>
              </a:path>
            </a:pathLst>
          </a:custGeom>
          <a:ln w="1905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/>
          </a:p>
        </p:txBody>
      </p:sp>
      <p:sp>
        <p:nvSpPr>
          <p:cNvPr id="13" name="任意多边形: 形状 10"/>
          <p:cNvSpPr/>
          <p:nvPr>
            <p:custDataLst>
              <p:tags r:id="rId4"/>
            </p:custDataLst>
          </p:nvPr>
        </p:nvSpPr>
        <p:spPr>
          <a:xfrm rot="5400000">
            <a:off x="1801495" y="1515110"/>
            <a:ext cx="716280" cy="14605"/>
          </a:xfrm>
          <a:custGeom>
            <a:avLst/>
            <a:gdLst>
              <a:gd name="connsiteX0" fmla="*/ -24 w 476250"/>
              <a:gd name="connsiteY0" fmla="*/ 26 h 9525"/>
              <a:gd name="connsiteX1" fmla="*/ 476226 w 476250"/>
              <a:gd name="connsiteY1" fmla="*/ 26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76250" h="9525">
                <a:moveTo>
                  <a:pt x="-24" y="26"/>
                </a:moveTo>
                <a:lnTo>
                  <a:pt x="476226" y="26"/>
                </a:lnTo>
              </a:path>
            </a:pathLst>
          </a:custGeom>
          <a:ln w="19050" cap="flat">
            <a:solidFill>
              <a:schemeClr val="accent3"/>
            </a:solidFill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/>
          </a:p>
        </p:txBody>
      </p:sp>
      <p:sp>
        <p:nvSpPr>
          <p:cNvPr id="14" name="任意多边形: 形状 11"/>
          <p:cNvSpPr/>
          <p:nvPr>
            <p:custDataLst>
              <p:tags r:id="rId5"/>
            </p:custDataLst>
          </p:nvPr>
        </p:nvSpPr>
        <p:spPr>
          <a:xfrm flipV="1">
            <a:off x="1678940" y="1343660"/>
            <a:ext cx="9109075" cy="68580"/>
          </a:xfrm>
          <a:custGeom>
            <a:avLst/>
            <a:gdLst>
              <a:gd name="connsiteX0" fmla="*/ 0 w 5274310"/>
              <a:gd name="connsiteY0" fmla="*/ 0 h 8255"/>
              <a:gd name="connsiteX1" fmla="*/ 5274310 w 5274310"/>
              <a:gd name="connsiteY1" fmla="*/ 0 h 82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74310" h="8255">
                <a:moveTo>
                  <a:pt x="0" y="0"/>
                </a:moveTo>
                <a:lnTo>
                  <a:pt x="5274310" y="0"/>
                </a:lnTo>
              </a:path>
            </a:pathLst>
          </a:custGeom>
          <a:ln w="16564" cap="flat">
            <a:solidFill>
              <a:schemeClr val="tx1">
                <a:lumMod val="85000"/>
                <a:lumOff val="15000"/>
              </a:schemeClr>
            </a:solidFill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/>
          </a:p>
        </p:txBody>
      </p:sp>
      <p:sp>
        <p:nvSpPr>
          <p:cNvPr id="16" name="任意多边形: 形状 6"/>
          <p:cNvSpPr/>
          <p:nvPr>
            <p:custDataLst>
              <p:tags r:id="rId6"/>
            </p:custDataLst>
          </p:nvPr>
        </p:nvSpPr>
        <p:spPr>
          <a:xfrm rot="5400000">
            <a:off x="10079990" y="5329555"/>
            <a:ext cx="716280" cy="14605"/>
          </a:xfrm>
          <a:custGeom>
            <a:avLst/>
            <a:gdLst>
              <a:gd name="connsiteX0" fmla="*/ -24 w 476250"/>
              <a:gd name="connsiteY0" fmla="*/ 26 h 9525"/>
              <a:gd name="connsiteX1" fmla="*/ 476226 w 476250"/>
              <a:gd name="connsiteY1" fmla="*/ 26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76250" h="9525">
                <a:moveTo>
                  <a:pt x="-24" y="26"/>
                </a:moveTo>
                <a:lnTo>
                  <a:pt x="476226" y="26"/>
                </a:lnTo>
              </a:path>
            </a:pathLst>
          </a:custGeom>
          <a:ln w="1905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/>
          </a:p>
        </p:txBody>
      </p:sp>
      <p:sp>
        <p:nvSpPr>
          <p:cNvPr id="17" name="任意多边形: 形状 7"/>
          <p:cNvSpPr/>
          <p:nvPr>
            <p:custDataLst>
              <p:tags r:id="rId7"/>
            </p:custDataLst>
          </p:nvPr>
        </p:nvSpPr>
        <p:spPr>
          <a:xfrm rot="5400000">
            <a:off x="9927590" y="5329555"/>
            <a:ext cx="716280" cy="14605"/>
          </a:xfrm>
          <a:custGeom>
            <a:avLst/>
            <a:gdLst>
              <a:gd name="connsiteX0" fmla="*/ -24 w 476250"/>
              <a:gd name="connsiteY0" fmla="*/ 26 h 9525"/>
              <a:gd name="connsiteX1" fmla="*/ 476226 w 476250"/>
              <a:gd name="connsiteY1" fmla="*/ 26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76250" h="9525">
                <a:moveTo>
                  <a:pt x="-24" y="26"/>
                </a:moveTo>
                <a:lnTo>
                  <a:pt x="476226" y="26"/>
                </a:lnTo>
              </a:path>
            </a:pathLst>
          </a:custGeom>
          <a:ln w="19050" cap="flat">
            <a:solidFill>
              <a:schemeClr val="accent3"/>
            </a:solidFill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/>
          </a:p>
        </p:txBody>
      </p:sp>
      <p:sp>
        <p:nvSpPr>
          <p:cNvPr id="18" name="任意多边形: 形状 8"/>
          <p:cNvSpPr/>
          <p:nvPr>
            <p:custDataLst>
              <p:tags r:id="rId8"/>
            </p:custDataLst>
          </p:nvPr>
        </p:nvSpPr>
        <p:spPr>
          <a:xfrm flipV="1">
            <a:off x="1678940" y="5336540"/>
            <a:ext cx="9109075" cy="68580"/>
          </a:xfrm>
          <a:custGeom>
            <a:avLst/>
            <a:gdLst>
              <a:gd name="connsiteX0" fmla="*/ 0 w 5274310"/>
              <a:gd name="connsiteY0" fmla="*/ 0 h 8255"/>
              <a:gd name="connsiteX1" fmla="*/ 5274310 w 5274310"/>
              <a:gd name="connsiteY1" fmla="*/ 0 h 82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74310" h="8255">
                <a:moveTo>
                  <a:pt x="0" y="0"/>
                </a:moveTo>
                <a:lnTo>
                  <a:pt x="5274310" y="0"/>
                </a:lnTo>
              </a:path>
            </a:pathLst>
          </a:custGeom>
          <a:ln w="16564" cap="flat">
            <a:solidFill>
              <a:schemeClr val="tx1">
                <a:lumMod val="85000"/>
                <a:lumOff val="15000"/>
              </a:schemeClr>
            </a:solidFill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/>
          </a:p>
        </p:txBody>
      </p:sp>
    </p:spTree>
    <p:custDataLst>
      <p:tags r:id="rId9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35" name="矩形 34"/>
          <p:cNvSpPr/>
          <p:nvPr>
            <p:custDataLst>
              <p:tags r:id="rId2"/>
            </p:custDataLst>
          </p:nvPr>
        </p:nvSpPr>
        <p:spPr>
          <a:xfrm>
            <a:off x="5345430" y="4765040"/>
            <a:ext cx="1567180" cy="147637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文字是您思想的提炼，请言简意赅的阐述观点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36" name="矩形 35"/>
          <p:cNvSpPr/>
          <p:nvPr>
            <p:custDataLst>
              <p:tags r:id="rId3"/>
            </p:custDataLst>
          </p:nvPr>
        </p:nvSpPr>
        <p:spPr>
          <a:xfrm>
            <a:off x="7540625" y="4765040"/>
            <a:ext cx="1567180" cy="147637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单击此处添加你的文本具体内容</a:t>
            </a:r>
            <a:endParaRPr lang="zh-CN" altLang="en-US" sz="14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37" name="矩形 36"/>
          <p:cNvSpPr/>
          <p:nvPr>
            <p:custDataLst>
              <p:tags r:id="rId4"/>
            </p:custDataLst>
          </p:nvPr>
        </p:nvSpPr>
        <p:spPr>
          <a:xfrm>
            <a:off x="947420" y="4765040"/>
            <a:ext cx="1565910" cy="147637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文字是您思想的提炼，请言简意赅的阐述观点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38" name="矩形 37"/>
          <p:cNvSpPr/>
          <p:nvPr>
            <p:custDataLst>
              <p:tags r:id="rId5"/>
            </p:custDataLst>
          </p:nvPr>
        </p:nvSpPr>
        <p:spPr>
          <a:xfrm>
            <a:off x="3141345" y="4765040"/>
            <a:ext cx="1574800" cy="147637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单击此处添加你的文本具体内容</a:t>
            </a:r>
            <a:endParaRPr lang="zh-CN" altLang="en-US" sz="14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0" name="椭圆 9"/>
          <p:cNvSpPr/>
          <p:nvPr>
            <p:custDataLst>
              <p:tags r:id="rId6"/>
            </p:custDataLst>
          </p:nvPr>
        </p:nvSpPr>
        <p:spPr>
          <a:xfrm>
            <a:off x="5249863" y="2494915"/>
            <a:ext cx="1747520" cy="1746885"/>
          </a:xfrm>
          <a:prstGeom prst="ellipse">
            <a:avLst/>
          </a:pr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2" name="椭圆 1"/>
          <p:cNvSpPr/>
          <p:nvPr>
            <p:custDataLst>
              <p:tags r:id="rId7"/>
            </p:custDataLst>
          </p:nvPr>
        </p:nvSpPr>
        <p:spPr>
          <a:xfrm>
            <a:off x="5340033" y="2585720"/>
            <a:ext cx="1567180" cy="1567180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innerShdw blurRad="152400">
              <a:schemeClr val="accent3">
                <a:lumMod val="20000"/>
                <a:lumOff val="80000"/>
                <a:alpha val="6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0170" tIns="547370" rIns="90170" bIns="0" numCol="1" spcCol="0" rtlCol="0" fromWordArt="0" anchor="t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600" b="1">
                <a:solidFill>
                  <a:srgbClr val="FFFFFF"/>
                </a:solidFill>
                <a:latin typeface="+mn-ea"/>
                <a:cs typeface="+mj-ea"/>
                <a:sym typeface="+mn-ea"/>
              </a:rPr>
              <a:t>添加标题</a:t>
            </a:r>
            <a:endParaRPr lang="zh-CN" altLang="en-US" sz="1600" b="1">
              <a:solidFill>
                <a:srgbClr val="FFFFFF"/>
              </a:solidFill>
              <a:latin typeface="+mn-ea"/>
              <a:cs typeface="+mj-ea"/>
              <a:sym typeface="+mn-ea"/>
            </a:endParaRPr>
          </a:p>
        </p:txBody>
      </p:sp>
      <p:sp>
        <p:nvSpPr>
          <p:cNvPr id="3" name="椭圆 2"/>
          <p:cNvSpPr/>
          <p:nvPr>
            <p:custDataLst>
              <p:tags r:id="rId8"/>
            </p:custDataLst>
          </p:nvPr>
        </p:nvSpPr>
        <p:spPr>
          <a:xfrm>
            <a:off x="5421630" y="2666365"/>
            <a:ext cx="1403985" cy="1403985"/>
          </a:xfrm>
          <a:prstGeom prst="ellipse">
            <a:avLst/>
          </a:prstGeom>
          <a:noFill/>
          <a:ln w="12700">
            <a:gradFill>
              <a:gsLst>
                <a:gs pos="0">
                  <a:srgbClr val="FFFFFF">
                    <a:alpha val="45000"/>
                  </a:srgbClr>
                </a:gs>
                <a:gs pos="100000">
                  <a:srgbClr val="FFFFFF">
                    <a:alpha val="45000"/>
                  </a:srgbClr>
                </a:gs>
                <a:gs pos="75000">
                  <a:srgbClr val="FFFFFF">
                    <a:alpha val="0"/>
                  </a:srgbClr>
                </a:gs>
                <a:gs pos="25000">
                  <a:srgbClr val="FFFFFF">
                    <a:alpha val="0"/>
                  </a:srgbClr>
                </a:gs>
              </a:gsLst>
              <a:lin ang="5400000" scaled="1"/>
            </a:gradFill>
          </a:ln>
          <a:effectLst>
            <a:outerShdw dist="12700" dir="5400000" algn="t" rotWithShape="0">
              <a:schemeClr val="accent3">
                <a:lumMod val="7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/>
          </a:bodyPr>
          <a:lstStyle/>
          <a:p>
            <a:pPr lvl="0" algn="ctr">
              <a:buClrTx/>
              <a:buSzTx/>
              <a:buFontTx/>
            </a:pPr>
            <a:endParaRPr lang="zh-CN" altLang="en-US" sz="1600" b="1">
              <a:latin typeface="+mn-ea"/>
              <a:cs typeface="微软雅黑" charset="-122"/>
              <a:sym typeface="+mn-ea"/>
            </a:endParaRPr>
          </a:p>
        </p:txBody>
      </p:sp>
      <p:sp>
        <p:nvSpPr>
          <p:cNvPr id="13" name="弧形 12"/>
          <p:cNvSpPr/>
          <p:nvPr>
            <p:custDataLst>
              <p:tags r:id="rId9"/>
            </p:custDataLst>
          </p:nvPr>
        </p:nvSpPr>
        <p:spPr>
          <a:xfrm flipV="1">
            <a:off x="5012690" y="2260600"/>
            <a:ext cx="2221865" cy="2221865"/>
          </a:xfrm>
          <a:prstGeom prst="arc">
            <a:avLst>
              <a:gd name="adj1" fmla="val 1352946"/>
              <a:gd name="adj2" fmla="val 10848491"/>
            </a:avLst>
          </a:prstGeom>
          <a:ln w="44450" cap="rnd">
            <a:solidFill>
              <a:schemeClr val="accent3">
                <a:alpha val="50000"/>
              </a:schemeClr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5" name="椭圆 4"/>
          <p:cNvSpPr/>
          <p:nvPr>
            <p:custDataLst>
              <p:tags r:id="rId10"/>
            </p:custDataLst>
          </p:nvPr>
        </p:nvSpPr>
        <p:spPr>
          <a:xfrm>
            <a:off x="7446963" y="2494915"/>
            <a:ext cx="1747520" cy="1746885"/>
          </a:xfrm>
          <a:prstGeom prst="ellipse">
            <a:avLst/>
          </a:prstGeom>
          <a:solidFill>
            <a:schemeClr val="accent4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24" name="椭圆 23"/>
          <p:cNvSpPr/>
          <p:nvPr>
            <p:custDataLst>
              <p:tags r:id="rId11"/>
            </p:custDataLst>
          </p:nvPr>
        </p:nvSpPr>
        <p:spPr>
          <a:xfrm>
            <a:off x="7537133" y="2585720"/>
            <a:ext cx="1567180" cy="1567180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>
            <a:innerShdw blurRad="152400">
              <a:schemeClr val="accent4">
                <a:lumMod val="20000"/>
                <a:lumOff val="80000"/>
                <a:alpha val="6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0170" tIns="547370" rIns="90170" bIns="0" numCol="1" spcCol="0" rtlCol="0" fromWordArt="0" anchor="t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600" b="1">
                <a:solidFill>
                  <a:srgbClr val="FFFFFF"/>
                </a:solidFill>
                <a:latin typeface="+mn-ea"/>
                <a:cs typeface="+mj-ea"/>
                <a:sym typeface="+mn-ea"/>
              </a:rPr>
              <a:t>添加标题</a:t>
            </a:r>
            <a:endParaRPr lang="zh-CN" altLang="en-US" sz="1600" b="1">
              <a:solidFill>
                <a:srgbClr val="FFFFFF"/>
              </a:solidFill>
              <a:latin typeface="+mn-ea"/>
              <a:cs typeface="+mj-ea"/>
              <a:sym typeface="+mn-ea"/>
            </a:endParaRPr>
          </a:p>
        </p:txBody>
      </p:sp>
      <p:sp>
        <p:nvSpPr>
          <p:cNvPr id="16" name="椭圆 15"/>
          <p:cNvSpPr/>
          <p:nvPr>
            <p:custDataLst>
              <p:tags r:id="rId12"/>
            </p:custDataLst>
          </p:nvPr>
        </p:nvSpPr>
        <p:spPr>
          <a:xfrm>
            <a:off x="7618730" y="2666365"/>
            <a:ext cx="1403985" cy="1403985"/>
          </a:xfrm>
          <a:prstGeom prst="ellipse">
            <a:avLst/>
          </a:prstGeom>
          <a:noFill/>
          <a:ln w="12700">
            <a:gradFill>
              <a:gsLst>
                <a:gs pos="0">
                  <a:srgbClr val="FFFFFF">
                    <a:alpha val="45000"/>
                  </a:srgbClr>
                </a:gs>
                <a:gs pos="100000">
                  <a:srgbClr val="FFFFFF">
                    <a:alpha val="45000"/>
                  </a:srgbClr>
                </a:gs>
                <a:gs pos="75000">
                  <a:srgbClr val="FFFFFF">
                    <a:alpha val="0"/>
                  </a:srgbClr>
                </a:gs>
                <a:gs pos="25000">
                  <a:srgbClr val="FFFFFF">
                    <a:alpha val="0"/>
                  </a:srgbClr>
                </a:gs>
              </a:gsLst>
              <a:lin ang="5400000" scaled="1"/>
            </a:gradFill>
          </a:ln>
          <a:effectLst>
            <a:outerShdw dist="12700" dir="5400000" algn="t" rotWithShape="0">
              <a:schemeClr val="accent4">
                <a:lumMod val="7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/>
          </a:bodyPr>
          <a:lstStyle/>
          <a:p>
            <a:pPr lvl="0" algn="ctr">
              <a:buClrTx/>
              <a:buSzTx/>
              <a:buFontTx/>
            </a:pPr>
            <a:endParaRPr lang="zh-CN" altLang="en-US" sz="1600" b="1">
              <a:latin typeface="+mn-ea"/>
              <a:cs typeface="微软雅黑" charset="-122"/>
              <a:sym typeface="+mn-ea"/>
            </a:endParaRPr>
          </a:p>
        </p:txBody>
      </p:sp>
      <p:sp>
        <p:nvSpPr>
          <p:cNvPr id="19" name="弧形 18"/>
          <p:cNvSpPr/>
          <p:nvPr>
            <p:custDataLst>
              <p:tags r:id="rId13"/>
            </p:custDataLst>
          </p:nvPr>
        </p:nvSpPr>
        <p:spPr>
          <a:xfrm flipV="1">
            <a:off x="7209790" y="2260600"/>
            <a:ext cx="2221865" cy="2221865"/>
          </a:xfrm>
          <a:prstGeom prst="arc">
            <a:avLst>
              <a:gd name="adj1" fmla="val 10822527"/>
              <a:gd name="adj2" fmla="val 20157622"/>
            </a:avLst>
          </a:prstGeom>
          <a:ln w="44450" cap="rnd">
            <a:solidFill>
              <a:schemeClr val="accent4">
                <a:alpha val="50000"/>
              </a:schemeClr>
            </a:solidFill>
            <a:headEnd type="none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7" name="椭圆 6"/>
          <p:cNvSpPr/>
          <p:nvPr>
            <p:custDataLst>
              <p:tags r:id="rId14"/>
            </p:custDataLst>
          </p:nvPr>
        </p:nvSpPr>
        <p:spPr>
          <a:xfrm>
            <a:off x="856298" y="2494915"/>
            <a:ext cx="1747520" cy="1746885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18" name="椭圆 17"/>
          <p:cNvSpPr/>
          <p:nvPr>
            <p:custDataLst>
              <p:tags r:id="rId15"/>
            </p:custDataLst>
          </p:nvPr>
        </p:nvSpPr>
        <p:spPr>
          <a:xfrm>
            <a:off x="946468" y="2585720"/>
            <a:ext cx="1567180" cy="156718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innerShdw blurRad="152400">
              <a:schemeClr val="accent1">
                <a:lumMod val="20000"/>
                <a:lumOff val="80000"/>
                <a:alpha val="6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0170" tIns="547370" rIns="90170" bIns="0" numCol="1" spcCol="0" rtlCol="0" fromWordArt="0" anchor="t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600" b="1">
                <a:solidFill>
                  <a:srgbClr val="FFFFFF"/>
                </a:solidFill>
                <a:latin typeface="+mn-ea"/>
                <a:cs typeface="+mj-ea"/>
                <a:sym typeface="+mn-ea"/>
              </a:rPr>
              <a:t>添加标题</a:t>
            </a:r>
            <a:endParaRPr lang="zh-CN" altLang="en-US" sz="1600" b="1">
              <a:solidFill>
                <a:srgbClr val="FFFFFF"/>
              </a:solidFill>
              <a:latin typeface="+mn-ea"/>
              <a:cs typeface="+mj-ea"/>
              <a:sym typeface="+mn-ea"/>
            </a:endParaRPr>
          </a:p>
        </p:txBody>
      </p:sp>
      <p:sp>
        <p:nvSpPr>
          <p:cNvPr id="8" name="椭圆 7"/>
          <p:cNvSpPr/>
          <p:nvPr>
            <p:custDataLst>
              <p:tags r:id="rId16"/>
            </p:custDataLst>
          </p:nvPr>
        </p:nvSpPr>
        <p:spPr>
          <a:xfrm>
            <a:off x="1028065" y="2666365"/>
            <a:ext cx="1403985" cy="1403985"/>
          </a:xfrm>
          <a:prstGeom prst="ellipse">
            <a:avLst/>
          </a:prstGeom>
          <a:noFill/>
          <a:ln w="12700">
            <a:gradFill>
              <a:gsLst>
                <a:gs pos="0">
                  <a:srgbClr val="FFFFFF">
                    <a:alpha val="45000"/>
                  </a:srgbClr>
                </a:gs>
                <a:gs pos="100000">
                  <a:srgbClr val="FFFFFF">
                    <a:alpha val="45000"/>
                  </a:srgbClr>
                </a:gs>
                <a:gs pos="75000">
                  <a:srgbClr val="FFFFFF">
                    <a:alpha val="0"/>
                  </a:srgbClr>
                </a:gs>
                <a:gs pos="25000">
                  <a:srgbClr val="FFFFFF">
                    <a:alpha val="0"/>
                  </a:srgbClr>
                </a:gs>
              </a:gsLst>
              <a:lin ang="5400000" scaled="1"/>
            </a:gradFill>
          </a:ln>
          <a:effectLst>
            <a:outerShdw dist="12700" dir="5400000" algn="t" rotWithShape="0">
              <a:schemeClr val="accent1">
                <a:lumMod val="7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/>
          </a:bodyPr>
          <a:lstStyle/>
          <a:p>
            <a:pPr lvl="0" algn="ctr">
              <a:buClrTx/>
              <a:buSzTx/>
              <a:buFontTx/>
            </a:pPr>
            <a:endParaRPr lang="zh-CN" altLang="en-US" sz="1600" b="1">
              <a:latin typeface="+mn-ea"/>
              <a:cs typeface="微软雅黑" charset="-122"/>
              <a:sym typeface="+mn-ea"/>
            </a:endParaRPr>
          </a:p>
        </p:txBody>
      </p:sp>
      <p:sp>
        <p:nvSpPr>
          <p:cNvPr id="15" name="弧形 14"/>
          <p:cNvSpPr/>
          <p:nvPr>
            <p:custDataLst>
              <p:tags r:id="rId17"/>
            </p:custDataLst>
          </p:nvPr>
        </p:nvSpPr>
        <p:spPr>
          <a:xfrm flipV="1">
            <a:off x="619125" y="2260600"/>
            <a:ext cx="2221865" cy="2221865"/>
          </a:xfrm>
          <a:prstGeom prst="arc">
            <a:avLst>
              <a:gd name="adj1" fmla="val 1352946"/>
              <a:gd name="adj2" fmla="val 10848491"/>
            </a:avLst>
          </a:prstGeom>
          <a:ln w="44450" cap="rnd">
            <a:solidFill>
              <a:schemeClr val="accent1">
                <a:alpha val="50000"/>
              </a:schemeClr>
            </a:solidFill>
            <a:head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21" name="椭圆 20"/>
          <p:cNvSpPr/>
          <p:nvPr>
            <p:custDataLst>
              <p:tags r:id="rId18"/>
            </p:custDataLst>
          </p:nvPr>
        </p:nvSpPr>
        <p:spPr>
          <a:xfrm>
            <a:off x="3053398" y="2494915"/>
            <a:ext cx="1747520" cy="1746885"/>
          </a:xfrm>
          <a:prstGeom prst="ellipse">
            <a:avLst/>
          </a:prstGeom>
          <a:solidFill>
            <a:schemeClr val="accent2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25" name="椭圆 24"/>
          <p:cNvSpPr/>
          <p:nvPr>
            <p:custDataLst>
              <p:tags r:id="rId19"/>
            </p:custDataLst>
          </p:nvPr>
        </p:nvSpPr>
        <p:spPr>
          <a:xfrm>
            <a:off x="3143568" y="2585720"/>
            <a:ext cx="1567180" cy="156718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innerShdw blurRad="152400">
              <a:schemeClr val="accent2">
                <a:lumMod val="20000"/>
                <a:lumOff val="80000"/>
                <a:alpha val="6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0170" tIns="547370" rIns="90170" bIns="0" numCol="1" spcCol="0" rtlCol="0" fromWordArt="0" anchor="t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600" b="1">
                <a:solidFill>
                  <a:srgbClr val="FFFFFF"/>
                </a:solidFill>
                <a:latin typeface="+mn-ea"/>
                <a:cs typeface="+mj-ea"/>
                <a:sym typeface="+mn-ea"/>
              </a:rPr>
              <a:t>添加标题</a:t>
            </a:r>
            <a:endParaRPr lang="zh-CN" altLang="en-US" sz="1600" b="1">
              <a:solidFill>
                <a:srgbClr val="FFFFFF"/>
              </a:solidFill>
              <a:latin typeface="+mn-ea"/>
              <a:cs typeface="+mj-ea"/>
              <a:sym typeface="+mn-ea"/>
            </a:endParaRPr>
          </a:p>
        </p:txBody>
      </p:sp>
      <p:sp>
        <p:nvSpPr>
          <p:cNvPr id="26" name="椭圆 25"/>
          <p:cNvSpPr/>
          <p:nvPr>
            <p:custDataLst>
              <p:tags r:id="rId20"/>
            </p:custDataLst>
          </p:nvPr>
        </p:nvSpPr>
        <p:spPr>
          <a:xfrm>
            <a:off x="3225165" y="2666365"/>
            <a:ext cx="1403985" cy="1403985"/>
          </a:xfrm>
          <a:prstGeom prst="ellipse">
            <a:avLst/>
          </a:prstGeom>
          <a:noFill/>
          <a:ln w="12700">
            <a:gradFill>
              <a:gsLst>
                <a:gs pos="0">
                  <a:srgbClr val="FFFFFF">
                    <a:alpha val="45000"/>
                  </a:srgbClr>
                </a:gs>
                <a:gs pos="100000">
                  <a:srgbClr val="FFFFFF">
                    <a:alpha val="45000"/>
                  </a:srgbClr>
                </a:gs>
                <a:gs pos="75000">
                  <a:srgbClr val="FFFFFF">
                    <a:alpha val="0"/>
                  </a:srgbClr>
                </a:gs>
                <a:gs pos="25000">
                  <a:srgbClr val="FFFFFF">
                    <a:alpha val="0"/>
                  </a:srgbClr>
                </a:gs>
              </a:gsLst>
              <a:lin ang="5400000" scaled="1"/>
            </a:gradFill>
          </a:ln>
          <a:effectLst>
            <a:outerShdw dist="12700" dir="5400000" algn="t" rotWithShape="0">
              <a:schemeClr val="accent2">
                <a:lumMod val="7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/>
          </a:bodyPr>
          <a:lstStyle/>
          <a:p>
            <a:pPr lvl="0" algn="ctr">
              <a:buClrTx/>
              <a:buSzTx/>
              <a:buFontTx/>
            </a:pPr>
            <a:endParaRPr lang="zh-CN" altLang="en-US" sz="1600" b="1">
              <a:latin typeface="+mn-ea"/>
              <a:cs typeface="微软雅黑" charset="-122"/>
              <a:sym typeface="+mn-ea"/>
            </a:endParaRPr>
          </a:p>
        </p:txBody>
      </p:sp>
      <p:sp>
        <p:nvSpPr>
          <p:cNvPr id="29" name="弧形 28"/>
          <p:cNvSpPr/>
          <p:nvPr>
            <p:custDataLst>
              <p:tags r:id="rId21"/>
            </p:custDataLst>
          </p:nvPr>
        </p:nvSpPr>
        <p:spPr>
          <a:xfrm flipV="1">
            <a:off x="2816225" y="2260600"/>
            <a:ext cx="2221865" cy="2221865"/>
          </a:xfrm>
          <a:prstGeom prst="arc">
            <a:avLst>
              <a:gd name="adj1" fmla="val 10822527"/>
              <a:gd name="adj2" fmla="val 20157622"/>
            </a:avLst>
          </a:prstGeom>
          <a:ln w="44450" cap="rnd">
            <a:solidFill>
              <a:schemeClr val="accent2">
                <a:alpha val="50000"/>
              </a:schemeClr>
            </a:solidFill>
            <a:headEnd type="none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39" name="矩形 38"/>
          <p:cNvSpPr/>
          <p:nvPr>
            <p:custDataLst>
              <p:tags r:id="rId22"/>
            </p:custDataLst>
          </p:nvPr>
        </p:nvSpPr>
        <p:spPr>
          <a:xfrm>
            <a:off x="9735820" y="4765040"/>
            <a:ext cx="1567180" cy="147637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文字是您思想的提炼，请言简意赅的阐述观点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2" name="椭圆 11"/>
          <p:cNvSpPr/>
          <p:nvPr>
            <p:custDataLst>
              <p:tags r:id="rId23"/>
            </p:custDataLst>
          </p:nvPr>
        </p:nvSpPr>
        <p:spPr>
          <a:xfrm>
            <a:off x="9645333" y="2494915"/>
            <a:ext cx="1747520" cy="1746885"/>
          </a:xfrm>
          <a:prstGeom prst="ellipse">
            <a:avLst/>
          </a:prstGeom>
          <a:solidFill>
            <a:schemeClr val="accent5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22" name="椭圆 21"/>
          <p:cNvSpPr/>
          <p:nvPr>
            <p:custDataLst>
              <p:tags r:id="rId24"/>
            </p:custDataLst>
          </p:nvPr>
        </p:nvSpPr>
        <p:spPr>
          <a:xfrm>
            <a:off x="9735503" y="2585720"/>
            <a:ext cx="1567180" cy="1567180"/>
          </a:xfrm>
          <a:prstGeom prst="ellipse">
            <a:avLst/>
          </a:prstGeom>
          <a:solidFill>
            <a:schemeClr val="accent5"/>
          </a:solidFill>
          <a:ln>
            <a:noFill/>
          </a:ln>
          <a:effectLst>
            <a:innerShdw blurRad="152400">
              <a:schemeClr val="accent1">
                <a:lumMod val="20000"/>
                <a:lumOff val="80000"/>
                <a:alpha val="6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0170" tIns="547370" rIns="90170" bIns="0" numCol="1" spcCol="0" rtlCol="0" fromWordArt="0" anchor="t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600" b="1">
                <a:solidFill>
                  <a:srgbClr val="FFFFFF"/>
                </a:solidFill>
                <a:latin typeface="+mn-ea"/>
                <a:cs typeface="+mj-ea"/>
                <a:sym typeface="+mn-ea"/>
              </a:rPr>
              <a:t>添加标题</a:t>
            </a:r>
            <a:endParaRPr lang="zh-CN" altLang="en-US" sz="1600" b="1">
              <a:solidFill>
                <a:srgbClr val="FFFFFF"/>
              </a:solidFill>
              <a:latin typeface="+mn-ea"/>
              <a:cs typeface="+mj-ea"/>
              <a:sym typeface="+mn-ea"/>
            </a:endParaRPr>
          </a:p>
        </p:txBody>
      </p:sp>
      <p:sp>
        <p:nvSpPr>
          <p:cNvPr id="23" name="椭圆 22"/>
          <p:cNvSpPr/>
          <p:nvPr>
            <p:custDataLst>
              <p:tags r:id="rId25"/>
            </p:custDataLst>
          </p:nvPr>
        </p:nvSpPr>
        <p:spPr>
          <a:xfrm>
            <a:off x="9817100" y="2666365"/>
            <a:ext cx="1403985" cy="1403985"/>
          </a:xfrm>
          <a:prstGeom prst="ellipse">
            <a:avLst/>
          </a:prstGeom>
          <a:noFill/>
          <a:ln w="12700">
            <a:gradFill>
              <a:gsLst>
                <a:gs pos="0">
                  <a:srgbClr val="FFFFFF">
                    <a:alpha val="45000"/>
                  </a:srgbClr>
                </a:gs>
                <a:gs pos="100000">
                  <a:srgbClr val="FFFFFF">
                    <a:alpha val="45000"/>
                  </a:srgbClr>
                </a:gs>
                <a:gs pos="75000">
                  <a:srgbClr val="FFFFFF">
                    <a:alpha val="0"/>
                  </a:srgbClr>
                </a:gs>
                <a:gs pos="25000">
                  <a:srgbClr val="FFFFFF">
                    <a:alpha val="0"/>
                  </a:srgbClr>
                </a:gs>
              </a:gsLst>
              <a:lin ang="5400000" scaled="1"/>
            </a:gradFill>
          </a:ln>
          <a:effectLst>
            <a:outerShdw dist="12700" dir="5400000" algn="t" rotWithShape="0">
              <a:schemeClr val="accent5">
                <a:lumMod val="7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/>
          </a:bodyPr>
          <a:lstStyle/>
          <a:p>
            <a:pPr lvl="0" algn="ctr">
              <a:buClrTx/>
              <a:buSzTx/>
              <a:buFontTx/>
            </a:pPr>
            <a:endParaRPr lang="zh-CN" altLang="en-US" sz="1600" b="1">
              <a:latin typeface="+mn-ea"/>
              <a:cs typeface="微软雅黑" charset="-122"/>
              <a:sym typeface="+mn-ea"/>
            </a:endParaRPr>
          </a:p>
        </p:txBody>
      </p:sp>
      <p:sp>
        <p:nvSpPr>
          <p:cNvPr id="27" name="弧形 26"/>
          <p:cNvSpPr/>
          <p:nvPr>
            <p:custDataLst>
              <p:tags r:id="rId26"/>
            </p:custDataLst>
          </p:nvPr>
        </p:nvSpPr>
        <p:spPr>
          <a:xfrm flipV="1">
            <a:off x="9408160" y="2260600"/>
            <a:ext cx="2221865" cy="2221865"/>
          </a:xfrm>
          <a:prstGeom prst="arc">
            <a:avLst>
              <a:gd name="adj1" fmla="val 1352946"/>
              <a:gd name="adj2" fmla="val 10848491"/>
            </a:avLst>
          </a:prstGeom>
          <a:ln w="44450" cap="rnd">
            <a:solidFill>
              <a:schemeClr val="accent5">
                <a:alpha val="50000"/>
              </a:schemeClr>
            </a:solidFill>
            <a:head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latin typeface="+mn-ea"/>
            </a:endParaRPr>
          </a:p>
        </p:txBody>
      </p:sp>
      <p:pic>
        <p:nvPicPr>
          <p:cNvPr id="45" name="图片 15" descr="343439383331313b343532303033313bd3a6d3c3c9ccb3c7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589723" y="2959735"/>
            <a:ext cx="288000" cy="288000"/>
          </a:xfrm>
          <a:prstGeom prst="rect">
            <a:avLst/>
          </a:prstGeom>
        </p:spPr>
      </p:pic>
      <p:pic>
        <p:nvPicPr>
          <p:cNvPr id="46" name="图片 19" descr="343435383038363b343532323339393bd6b4d0d0d5aad2aa"/>
          <p:cNvPicPr>
            <a:picLocks noChangeAspect="1"/>
          </p:cNvPicPr>
          <p:nvPr>
            <p:custDataLst>
              <p:tags r:id="rId30"/>
            </p:custDataLst>
          </p:nvPr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3778568" y="2951480"/>
            <a:ext cx="288000" cy="288000"/>
          </a:xfrm>
          <a:prstGeom prst="rect">
            <a:avLst/>
          </a:prstGeom>
        </p:spPr>
      </p:pic>
      <p:pic>
        <p:nvPicPr>
          <p:cNvPr id="47" name="图片 11" descr="343439383331313b343532303032373bbfcdbba7b5b5b0b8"/>
          <p:cNvPicPr>
            <a:picLocks noChangeAspect="1"/>
          </p:cNvPicPr>
          <p:nvPr>
            <p:custDataLst>
              <p:tags r:id="rId33"/>
            </p:custDataLst>
          </p:nvPr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5985498" y="2961944"/>
            <a:ext cx="288000" cy="288000"/>
          </a:xfrm>
          <a:prstGeom prst="rect">
            <a:avLst/>
          </a:prstGeom>
        </p:spPr>
      </p:pic>
      <p:pic>
        <p:nvPicPr>
          <p:cNvPr id="48" name="图片 12" descr="343439383331313b343532303032383bbfcdbba7b9dcc0ed"/>
          <p:cNvPicPr>
            <a:picLocks noChangeAspect="1"/>
          </p:cNvPicPr>
          <p:nvPr>
            <p:custDataLst>
              <p:tags r:id="rId36"/>
            </p:custDataLst>
          </p:nvPr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8177396" y="2956743"/>
            <a:ext cx="288000" cy="288000"/>
          </a:xfrm>
          <a:prstGeom prst="rect">
            <a:avLst/>
          </a:prstGeom>
        </p:spPr>
      </p:pic>
      <p:pic>
        <p:nvPicPr>
          <p:cNvPr id="49" name="图片 16" descr="343439383331313b343532303033323bd3a6d3c3b9dcc0ed"/>
          <p:cNvPicPr>
            <a:picLocks noChangeAspect="1"/>
          </p:cNvPicPr>
          <p:nvPr>
            <p:custDataLst>
              <p:tags r:id="rId39"/>
            </p:custDataLst>
          </p:nvPr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10370155" y="2960431"/>
            <a:ext cx="288000" cy="288000"/>
          </a:xfrm>
          <a:prstGeom prst="rect">
            <a:avLst/>
          </a:prstGeom>
        </p:spPr>
      </p:pic>
    </p:spTree>
    <p:custDataLst>
      <p:tags r:id="rId4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6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82912" y="182880"/>
            <a:ext cx="256032" cy="256032"/>
          </a:xfrm>
          <a:prstGeom prst="hexagon">
            <a:avLst/>
          </a:prstGeom>
          <a:solidFill>
            <a:srgbClr val="35D0E8"/>
          </a:solidFill>
          <a:ln w="12700">
            <a:solidFill>
              <a:srgbClr val="35D0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02368" y="182880"/>
            <a:ext cx="256032" cy="256032"/>
          </a:xfrm>
          <a:prstGeom prst="hexagon">
            <a:avLst/>
          </a:prstGeom>
          <a:solidFill>
            <a:srgbClr val="2F7BF6"/>
          </a:solidFill>
          <a:ln w="12700">
            <a:solidFill>
              <a:srgbClr val="2F7B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76688" y="164592"/>
            <a:ext cx="1371600" cy="1280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80" b="1" dirty="0">
                <a:solidFill>
                  <a:srgbClr val="F9FAFB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灵核AI虾客松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9985248" y="310896"/>
            <a:ext cx="1536192" cy="1097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80" dirty="0">
                <a:solidFill>
                  <a:srgbClr val="8F9AAA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LinkClaw Hackathon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548640" y="292608"/>
            <a:ext cx="58521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9FAFB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项目组织能力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48640" y="603504"/>
            <a:ext cx="76809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8F9AAA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不把团队页做成个人简历，而是用“医疗 + AI + 工程 + 落地”的能力闭环来回答评委。</a:t>
            </a:r>
            <a:endParaRPr lang="en-US" sz="960" dirty="0"/>
          </a:p>
        </p:txBody>
      </p:sp>
      <p:sp>
        <p:nvSpPr>
          <p:cNvPr id="8" name="Text 6"/>
          <p:cNvSpPr/>
          <p:nvPr/>
        </p:nvSpPr>
        <p:spPr>
          <a:xfrm>
            <a:off x="8412480" y="603504"/>
            <a:ext cx="301752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8F9AAA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Team capability framing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13232" y="1225296"/>
            <a:ext cx="3346704" cy="1463040"/>
          </a:xfrm>
          <a:prstGeom prst="roundRect">
            <a:avLst>
              <a:gd name="adj" fmla="val 10000"/>
            </a:avLst>
          </a:prstGeom>
          <a:solidFill>
            <a:srgbClr val="171C24"/>
          </a:solidFill>
          <a:ln w="12700">
            <a:solidFill>
              <a:srgbClr val="293241"/>
            </a:solidFill>
            <a:prstDash val="solid"/>
          </a:ln>
          <a:effectLst>
            <a:outerShdw blurRad="25400" dist="635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77824" y="1389888"/>
            <a:ext cx="841248" cy="841248"/>
          </a:xfrm>
          <a:prstGeom prst="roundRect">
            <a:avLst>
              <a:gd name="adj" fmla="val 17391"/>
            </a:avLst>
          </a:prstGeom>
          <a:solidFill>
            <a:srgbClr val="0D1015"/>
          </a:solidFill>
          <a:ln w="12700">
            <a:solidFill>
              <a:srgbClr val="29324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1664208"/>
            <a:ext cx="841248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F9AAA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MK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883664" y="1444752"/>
            <a:ext cx="1901952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F9FAFB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医疗产品与方案</a:t>
            </a:r>
            <a:endParaRPr lang="en-US" sz="1220" dirty="0"/>
          </a:p>
        </p:txBody>
      </p:sp>
      <p:sp>
        <p:nvSpPr>
          <p:cNvPr id="13" name="Text 11"/>
          <p:cNvSpPr/>
          <p:nvPr/>
        </p:nvSpPr>
        <p:spPr>
          <a:xfrm>
            <a:off x="1883664" y="1755648"/>
            <a:ext cx="1901952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D7DCE5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负责慢病管理路径、专病规则、行为干预包设计。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4553712" y="1225296"/>
            <a:ext cx="3346704" cy="1463040"/>
          </a:xfrm>
          <a:prstGeom prst="roundRect">
            <a:avLst>
              <a:gd name="adj" fmla="val 10000"/>
            </a:avLst>
          </a:prstGeom>
          <a:solidFill>
            <a:srgbClr val="171C24"/>
          </a:solidFill>
          <a:ln w="12700">
            <a:solidFill>
              <a:srgbClr val="293241"/>
            </a:solidFill>
            <a:prstDash val="solid"/>
          </a:ln>
          <a:effectLst>
            <a:outerShdw blurRad="25400" dist="635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18304" y="1389888"/>
            <a:ext cx="841248" cy="841248"/>
          </a:xfrm>
          <a:prstGeom prst="roundRect">
            <a:avLst>
              <a:gd name="adj" fmla="val 17391"/>
            </a:avLst>
          </a:prstGeom>
          <a:solidFill>
            <a:srgbClr val="0D1015"/>
          </a:solidFill>
          <a:ln w="12700">
            <a:solidFill>
              <a:srgbClr val="29324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18304" y="1664208"/>
            <a:ext cx="841248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F9AAA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MK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724144" y="1444752"/>
            <a:ext cx="1901952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F9FAFB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医疗 AI 与智能体</a:t>
            </a:r>
            <a:endParaRPr lang="en-US" sz="1220" dirty="0"/>
          </a:p>
        </p:txBody>
      </p:sp>
      <p:sp>
        <p:nvSpPr>
          <p:cNvPr id="18" name="Text 16"/>
          <p:cNvSpPr/>
          <p:nvPr/>
        </p:nvSpPr>
        <p:spPr>
          <a:xfrm>
            <a:off x="5724144" y="1755648"/>
            <a:ext cx="1901952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D7DCE5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负责 OpenClaw 多智能体编排、KG-Followup、MedClaw 能力接入。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713232" y="3090672"/>
            <a:ext cx="3346704" cy="1463040"/>
          </a:xfrm>
          <a:prstGeom prst="roundRect">
            <a:avLst>
              <a:gd name="adj" fmla="val 10000"/>
            </a:avLst>
          </a:prstGeom>
          <a:solidFill>
            <a:srgbClr val="171C24"/>
          </a:solidFill>
          <a:ln w="12700">
            <a:solidFill>
              <a:srgbClr val="293241"/>
            </a:solidFill>
            <a:prstDash val="solid"/>
          </a:ln>
          <a:effectLst>
            <a:outerShdw blurRad="25400" dist="635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77824" y="3255264"/>
            <a:ext cx="841248" cy="841248"/>
          </a:xfrm>
          <a:prstGeom prst="roundRect">
            <a:avLst>
              <a:gd name="adj" fmla="val 17391"/>
            </a:avLst>
          </a:prstGeom>
          <a:solidFill>
            <a:srgbClr val="0D1015"/>
          </a:solidFill>
          <a:ln w="12700">
            <a:solidFill>
              <a:srgbClr val="29324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77824" y="3529584"/>
            <a:ext cx="841248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F9AAA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MK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883664" y="3310128"/>
            <a:ext cx="1901952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F9FAFB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平台工程与接入</a:t>
            </a:r>
            <a:endParaRPr lang="en-US" sz="1220" dirty="0"/>
          </a:p>
        </p:txBody>
      </p:sp>
      <p:sp>
        <p:nvSpPr>
          <p:cNvPr id="23" name="Text 21"/>
          <p:cNvSpPr/>
          <p:nvPr/>
        </p:nvSpPr>
        <p:spPr>
          <a:xfrm>
            <a:off x="1883664" y="3621024"/>
            <a:ext cx="1901952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D7DCE5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负责 FHIR / SMART on FHIR、医院接入、可视化工作台与预测微服务。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4553712" y="3090672"/>
            <a:ext cx="3346704" cy="1463040"/>
          </a:xfrm>
          <a:prstGeom prst="roundRect">
            <a:avLst>
              <a:gd name="adj" fmla="val 10000"/>
            </a:avLst>
          </a:prstGeom>
          <a:solidFill>
            <a:srgbClr val="171C24"/>
          </a:solidFill>
          <a:ln w="12700">
            <a:solidFill>
              <a:srgbClr val="293241"/>
            </a:solidFill>
            <a:prstDash val="solid"/>
          </a:ln>
          <a:effectLst>
            <a:outerShdw blurRad="25400" dist="635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18304" y="3255264"/>
            <a:ext cx="841248" cy="841248"/>
          </a:xfrm>
          <a:prstGeom prst="roundRect">
            <a:avLst>
              <a:gd name="adj" fmla="val 17391"/>
            </a:avLst>
          </a:prstGeom>
          <a:solidFill>
            <a:srgbClr val="0D1015"/>
          </a:solidFill>
          <a:ln w="12700">
            <a:solidFill>
              <a:srgbClr val="29324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18304" y="3529584"/>
            <a:ext cx="841248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F9AAA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MK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724144" y="3310128"/>
            <a:ext cx="1901952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F9FAFB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医院落地与运营</a:t>
            </a:r>
            <a:endParaRPr lang="en-US" sz="1220" dirty="0"/>
          </a:p>
        </p:txBody>
      </p:sp>
      <p:sp>
        <p:nvSpPr>
          <p:cNvPr id="28" name="Text 26"/>
          <p:cNvSpPr/>
          <p:nvPr/>
        </p:nvSpPr>
        <p:spPr>
          <a:xfrm>
            <a:off x="5724144" y="3621024"/>
            <a:ext cx="1901952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D7DCE5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负责医院试点、角色工作流、管理闭环与商业化验证。</a:t>
            </a:r>
            <a:endParaRPr lang="en-US" sz="980" dirty="0"/>
          </a:p>
        </p:txBody>
      </p:sp>
      <p:sp>
        <p:nvSpPr>
          <p:cNvPr id="29" name="Shape 27"/>
          <p:cNvSpPr/>
          <p:nvPr/>
        </p:nvSpPr>
        <p:spPr>
          <a:xfrm>
            <a:off x="8174736" y="1225296"/>
            <a:ext cx="3291840" cy="3328416"/>
          </a:xfrm>
          <a:prstGeom prst="roundRect">
            <a:avLst>
              <a:gd name="adj" fmla="val 4444"/>
            </a:avLst>
          </a:prstGeom>
          <a:solidFill>
            <a:srgbClr val="12161D"/>
          </a:solidFill>
          <a:ln w="12700">
            <a:solidFill>
              <a:srgbClr val="293241"/>
            </a:solidFill>
            <a:prstDash val="solid"/>
          </a:ln>
          <a:effectLst>
            <a:outerShdw blurRad="25400" dist="635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412480" y="1481328"/>
            <a:ext cx="237744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40" b="1" dirty="0">
                <a:solidFill>
                  <a:srgbClr val="F9FAFB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为什么这样呈现团队</a:t>
            </a:r>
            <a:endParaRPr lang="en-US" sz="1240" dirty="0"/>
          </a:p>
        </p:txBody>
      </p:sp>
      <p:sp>
        <p:nvSpPr>
          <p:cNvPr id="31" name="Text 29"/>
          <p:cNvSpPr/>
          <p:nvPr/>
        </p:nvSpPr>
        <p:spPr>
          <a:xfrm>
            <a:off x="8394192" y="1865376"/>
            <a:ext cx="2761488" cy="144475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D7DCE5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比赛更看重“能不能把行业问题做成产品”，而不是单纯履历堆叠。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D7DCE5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这页回答的是：我们有没有把医疗、AI、工程和落地串成一个闭环。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D7DCE5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后续如需替换成真实成员姓名，可直接在这四个卡片内替换。</a:t>
            </a:r>
            <a:endParaRPr lang="en-US" sz="1020" dirty="0"/>
          </a:p>
        </p:txBody>
      </p:sp>
      <p:sp>
        <p:nvSpPr>
          <p:cNvPr id="32" name="Text 30"/>
          <p:cNvSpPr/>
          <p:nvPr/>
        </p:nvSpPr>
        <p:spPr>
          <a:xfrm>
            <a:off x="8412480" y="3657600"/>
            <a:ext cx="91440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35D0E8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建议口播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412480" y="3913632"/>
            <a:ext cx="2670048" cy="7315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D7DCE5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我们这套平台不是单一算法项目，而是围绕真实医院慢病管理闭环搭建的复合型系统，因此团队能力也必须围绕“方案、AI、工程、落地”四个面来组织。</a:t>
            </a:r>
            <a:endParaRPr lang="en-US" sz="980" dirty="0"/>
          </a:p>
        </p:txBody>
      </p:sp>
      <p:sp>
        <p:nvSpPr>
          <p:cNvPr id="34" name="Text 32"/>
          <p:cNvSpPr/>
          <p:nvPr/>
        </p:nvSpPr>
        <p:spPr>
          <a:xfrm>
            <a:off x="5998464" y="6473952"/>
            <a:ext cx="219456" cy="91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F9AAA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6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82912" y="182880"/>
            <a:ext cx="256032" cy="256032"/>
          </a:xfrm>
          <a:prstGeom prst="hexagon">
            <a:avLst/>
          </a:prstGeom>
          <a:solidFill>
            <a:srgbClr val="35D0E8"/>
          </a:solidFill>
          <a:ln w="12700">
            <a:solidFill>
              <a:srgbClr val="35D0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02368" y="182880"/>
            <a:ext cx="256032" cy="256032"/>
          </a:xfrm>
          <a:prstGeom prst="hexagon">
            <a:avLst/>
          </a:prstGeom>
          <a:solidFill>
            <a:srgbClr val="2F7BF6"/>
          </a:solidFill>
          <a:ln w="12700">
            <a:solidFill>
              <a:srgbClr val="2F7B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76688" y="164592"/>
            <a:ext cx="1371600" cy="1280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80" b="1" dirty="0">
                <a:solidFill>
                  <a:srgbClr val="F9FAFB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灵核AI虾客松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9985248" y="310896"/>
            <a:ext cx="1536192" cy="1097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80" dirty="0">
                <a:solidFill>
                  <a:srgbClr val="8F9AAA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LinkClaw Hackathon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548640" y="292608"/>
            <a:ext cx="58521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9FAFB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项目简介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48640" y="603504"/>
            <a:ext cx="76809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8F9AAA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这不是通用健康助手，而是一套医院可组织、可督办、可复评的慢病管理平台。</a:t>
            </a:r>
            <a:endParaRPr lang="en-US" sz="960" dirty="0"/>
          </a:p>
        </p:txBody>
      </p:sp>
      <p:sp>
        <p:nvSpPr>
          <p:cNvPr id="8" name="Text 6"/>
          <p:cNvSpPr/>
          <p:nvPr/>
        </p:nvSpPr>
        <p:spPr>
          <a:xfrm>
            <a:off x="8412480" y="603504"/>
            <a:ext cx="301752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8F9AAA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Project intro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94944" y="1152144"/>
            <a:ext cx="109728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35D0E8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一句话价值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94944" y="1426464"/>
            <a:ext cx="4882896" cy="49377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80" b="1" dirty="0">
                <a:solidFill>
                  <a:srgbClr val="F9FAFB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把“风险识别、行为干预、MDT 协同”串成一条连续执行链，让慢病管理真正从门诊延伸到长期管理。</a:t>
            </a:r>
            <a:endParaRPr lang="en-US" sz="1480" dirty="0"/>
          </a:p>
        </p:txBody>
      </p:sp>
      <p:sp>
        <p:nvSpPr>
          <p:cNvPr id="11" name="Text 9"/>
          <p:cNvSpPr/>
          <p:nvPr/>
        </p:nvSpPr>
        <p:spPr>
          <a:xfrm>
            <a:off x="694944" y="2231136"/>
            <a:ext cx="4791456" cy="16276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40" dirty="0">
                <a:solidFill>
                  <a:srgbClr val="D7DCE5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对象：医院、社区卫生服务中心、区域卫生管理平台。</a:t>
            </a:r>
            <a:endParaRPr lang="en-US" sz="1040" dirty="0"/>
          </a:p>
          <a:p>
            <a:pPr marL="152400" indent="-152400">
              <a:buSzPct val="100000"/>
              <a:buChar char="•"/>
            </a:pPr>
            <a:r>
              <a:rPr lang="en-US" sz="1040" dirty="0">
                <a:solidFill>
                  <a:srgbClr val="D7DCE5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底座：OpenClaw 智能体编排 + 医疗规则引擎 + FHIR 数据接入 + 风险预测微服务。</a:t>
            </a:r>
            <a:endParaRPr lang="en-US" sz="1040" dirty="0"/>
          </a:p>
          <a:p>
            <a:pPr marL="152400" indent="-152400">
              <a:buSzPct val="100000"/>
              <a:buChar char="•"/>
            </a:pPr>
            <a:r>
              <a:rPr lang="en-US" sz="1040" dirty="0">
                <a:solidFill>
                  <a:srgbClr val="D7DCE5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形态：区级总览、医院管理视图、医生工作视图三层工作台。</a:t>
            </a:r>
            <a:endParaRPr lang="en-US" sz="1040" dirty="0"/>
          </a:p>
          <a:p>
            <a:pPr marL="152400" indent="-152400">
              <a:buSzPct val="100000"/>
              <a:buChar char="•"/>
            </a:pPr>
            <a:r>
              <a:rPr lang="en-US" sz="1040" dirty="0">
                <a:solidFill>
                  <a:srgbClr val="D7DCE5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状态：已完成栖霞区 15 家机构虚拟网络、100 人慢病管理仿真与多角色随访演示。</a:t>
            </a:r>
            <a:endParaRPr lang="en-US" sz="1040" dirty="0"/>
          </a:p>
        </p:txBody>
      </p:sp>
      <p:sp>
        <p:nvSpPr>
          <p:cNvPr id="12" name="Shape 10"/>
          <p:cNvSpPr/>
          <p:nvPr/>
        </p:nvSpPr>
        <p:spPr>
          <a:xfrm>
            <a:off x="694944" y="4224528"/>
            <a:ext cx="1664208" cy="1133856"/>
          </a:xfrm>
          <a:prstGeom prst="roundRect">
            <a:avLst>
              <a:gd name="adj" fmla="val 12903"/>
            </a:avLst>
          </a:prstGeom>
          <a:solidFill>
            <a:srgbClr val="11284B"/>
          </a:solidFill>
          <a:ln w="12700">
            <a:solidFill>
              <a:srgbClr val="2F7BF6"/>
            </a:solidFill>
            <a:prstDash val="solid"/>
          </a:ln>
          <a:effectLst>
            <a:outerShdw blurRad="25400" dist="635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59536" y="4370832"/>
            <a:ext cx="1335024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8F9AAA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医院网络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59536" y="4608576"/>
            <a:ext cx="1335024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F9FAFB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15 家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59536" y="4992624"/>
            <a:ext cx="1335024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D7DCE5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栖霞区机构演示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2505456" y="4224528"/>
            <a:ext cx="1664208" cy="1133856"/>
          </a:xfrm>
          <a:prstGeom prst="roundRect">
            <a:avLst>
              <a:gd name="adj" fmla="val 12903"/>
            </a:avLst>
          </a:prstGeom>
          <a:solidFill>
            <a:srgbClr val="143944"/>
          </a:solidFill>
          <a:ln w="12700">
            <a:solidFill>
              <a:srgbClr val="35D0E8"/>
            </a:solidFill>
            <a:prstDash val="solid"/>
          </a:ln>
          <a:effectLst>
            <a:outerShdw blurRad="25400" dist="635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670048" y="4370832"/>
            <a:ext cx="1335024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8F9AAA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患者仿真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670048" y="4608576"/>
            <a:ext cx="1335024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F9FAFB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100 人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2670048" y="4992624"/>
            <a:ext cx="1335024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D7DCE5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分域风险 + 时间轴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4315968" y="4224528"/>
            <a:ext cx="1664208" cy="1133856"/>
          </a:xfrm>
          <a:prstGeom prst="roundRect">
            <a:avLst>
              <a:gd name="adj" fmla="val 12903"/>
            </a:avLst>
          </a:prstGeom>
          <a:solidFill>
            <a:srgbClr val="11392F"/>
          </a:solidFill>
          <a:ln w="12700">
            <a:solidFill>
              <a:srgbClr val="38D39F"/>
            </a:solidFill>
            <a:prstDash val="solid"/>
          </a:ln>
          <a:effectLst>
            <a:outerShdw blurRad="25400" dist="635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480560" y="4370832"/>
            <a:ext cx="1335024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8F9AAA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干预周期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480560" y="4608576"/>
            <a:ext cx="1335024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F9FAFB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12 周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4480560" y="4992624"/>
            <a:ext cx="1335024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D7DCE5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4/8/12 周复评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6473952" y="1097280"/>
            <a:ext cx="5084064" cy="5266944"/>
          </a:xfrm>
          <a:prstGeom prst="roundRect">
            <a:avLst>
              <a:gd name="adj" fmla="val 2878"/>
            </a:avLst>
          </a:prstGeom>
          <a:solidFill>
            <a:srgbClr val="171C24"/>
          </a:solidFill>
          <a:ln w="12700">
            <a:solidFill>
              <a:srgbClr val="293241"/>
            </a:solidFill>
            <a:prstDash val="solid"/>
          </a:ln>
          <a:effectLst>
            <a:outerShdw blurRad="25400" dist="635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5" name="Image 0" descr="/Users/linzhang/Desktop/      OPC/健康管理/demo-ppt/assets/full-overview.png"/>
          <p:cNvPicPr>
            <a:picLocks noChangeAspect="1"/>
          </p:cNvPicPr>
          <p:nvPr/>
        </p:nvPicPr>
        <p:blipFill>
          <a:blip r:embed="rId1"/>
          <a:srcRect t="12299" b="12299"/>
          <a:stretch>
            <a:fillRect/>
          </a:stretch>
        </p:blipFill>
        <p:spPr>
          <a:xfrm>
            <a:off x="6528816" y="1152144"/>
            <a:ext cx="4974336" cy="5157216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5998464" y="6473952"/>
            <a:ext cx="219456" cy="91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F9AAA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6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82912" y="182880"/>
            <a:ext cx="256032" cy="256032"/>
          </a:xfrm>
          <a:prstGeom prst="hexagon">
            <a:avLst/>
          </a:prstGeom>
          <a:solidFill>
            <a:srgbClr val="35D0E8"/>
          </a:solidFill>
          <a:ln w="12700">
            <a:solidFill>
              <a:srgbClr val="35D0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02368" y="182880"/>
            <a:ext cx="256032" cy="256032"/>
          </a:xfrm>
          <a:prstGeom prst="hexagon">
            <a:avLst/>
          </a:prstGeom>
          <a:solidFill>
            <a:srgbClr val="2F7BF6"/>
          </a:solidFill>
          <a:ln w="12700">
            <a:solidFill>
              <a:srgbClr val="2F7B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76688" y="164592"/>
            <a:ext cx="1371600" cy="1280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80" b="1" dirty="0">
                <a:solidFill>
                  <a:srgbClr val="F9FAFB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灵核AI虾客松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9985248" y="310896"/>
            <a:ext cx="1536192" cy="1097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80" dirty="0">
                <a:solidFill>
                  <a:srgbClr val="8F9AAA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LinkClaw Hackathon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548640" y="292608"/>
            <a:ext cx="58521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9FAFB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项目背景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48640" y="603504"/>
            <a:ext cx="76809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8F9AAA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慢病管理最大的问题，不是没有数据，而是没有把数据变成连续执行能力。</a:t>
            </a:r>
            <a:endParaRPr lang="en-US" sz="960" dirty="0"/>
          </a:p>
        </p:txBody>
      </p:sp>
      <p:sp>
        <p:nvSpPr>
          <p:cNvPr id="8" name="Text 6"/>
          <p:cNvSpPr/>
          <p:nvPr/>
        </p:nvSpPr>
        <p:spPr>
          <a:xfrm>
            <a:off x="8412480" y="603504"/>
            <a:ext cx="301752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8F9AAA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Background / pain points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76656" y="1261872"/>
            <a:ext cx="3438144" cy="1078992"/>
          </a:xfrm>
          <a:prstGeom prst="roundRect">
            <a:avLst>
              <a:gd name="adj" fmla="val 13559"/>
            </a:avLst>
          </a:prstGeom>
          <a:solidFill>
            <a:srgbClr val="171C24"/>
          </a:solidFill>
          <a:ln w="12700">
            <a:solidFill>
              <a:srgbClr val="293241"/>
            </a:solidFill>
            <a:prstDash val="solid"/>
          </a:ln>
          <a:effectLst>
            <a:outerShdw blurRad="25400" dist="635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41248" y="1408176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9FAFB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风险识别滞后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41248" y="1664208"/>
            <a:ext cx="2926080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D7DCE5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很多高风险患者直到异常事件发生后才被重点管理，缺少持续分层。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4535424" y="1261872"/>
            <a:ext cx="3438144" cy="1078992"/>
          </a:xfrm>
          <a:prstGeom prst="roundRect">
            <a:avLst>
              <a:gd name="adj" fmla="val 13559"/>
            </a:avLst>
          </a:prstGeom>
          <a:solidFill>
            <a:srgbClr val="171C24"/>
          </a:solidFill>
          <a:ln w="12700">
            <a:solidFill>
              <a:srgbClr val="293241"/>
            </a:solidFill>
            <a:prstDash val="solid"/>
          </a:ln>
          <a:effectLst>
            <a:outerShdw blurRad="25400" dist="635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00016" y="1408176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9FAFB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干预建议割裂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00016" y="1664208"/>
            <a:ext cx="2926080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D7DCE5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饮食、运动、睡眠建议往往分散在不同角色与系统里，难形成整合方案。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676656" y="2706624"/>
            <a:ext cx="3438144" cy="1078992"/>
          </a:xfrm>
          <a:prstGeom prst="roundRect">
            <a:avLst>
              <a:gd name="adj" fmla="val 13559"/>
            </a:avLst>
          </a:prstGeom>
          <a:solidFill>
            <a:srgbClr val="171C24"/>
          </a:solidFill>
          <a:ln w="12700">
            <a:solidFill>
              <a:srgbClr val="293241"/>
            </a:solidFill>
            <a:prstDash val="solid"/>
          </a:ln>
          <a:effectLst>
            <a:outerShdw blurRad="25400" dist="635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41248" y="2852928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9FAFB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协同成本高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41248" y="3108960"/>
            <a:ext cx="2926080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D7DCE5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专科医生、全科医生、健康管理师、患者之间缺少同一条执行链。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4535424" y="2706624"/>
            <a:ext cx="3438144" cy="1078992"/>
          </a:xfrm>
          <a:prstGeom prst="roundRect">
            <a:avLst>
              <a:gd name="adj" fmla="val 13559"/>
            </a:avLst>
          </a:prstGeom>
          <a:solidFill>
            <a:srgbClr val="171C24"/>
          </a:solidFill>
          <a:ln w="12700">
            <a:solidFill>
              <a:srgbClr val="293241"/>
            </a:solidFill>
            <a:prstDash val="solid"/>
          </a:ln>
          <a:effectLst>
            <a:outerShdw blurRad="25400" dist="635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00016" y="2852928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9FAFB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复评难闭环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00016" y="3108960"/>
            <a:ext cx="2926080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D7DCE5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随访靠人工推进，阶段性改善难沉淀成结构化证据与持续督办。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8430768" y="1261872"/>
            <a:ext cx="3072384" cy="3529584"/>
          </a:xfrm>
          <a:prstGeom prst="roundRect">
            <a:avLst>
              <a:gd name="adj" fmla="val 4762"/>
            </a:avLst>
          </a:prstGeom>
          <a:solidFill>
            <a:srgbClr val="12161D"/>
          </a:solidFill>
          <a:ln w="12700">
            <a:solidFill>
              <a:srgbClr val="293241"/>
            </a:solidFill>
            <a:prstDash val="solid"/>
          </a:ln>
          <a:effectLst>
            <a:outerShdw blurRad="25400" dist="635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686800" y="1554480"/>
            <a:ext cx="228600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b="1" dirty="0">
                <a:solidFill>
                  <a:srgbClr val="35D0E8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评委要看到的不是“行业很大”</a:t>
            </a:r>
            <a:endParaRPr lang="en-US" sz="1160" dirty="0"/>
          </a:p>
        </p:txBody>
      </p:sp>
      <p:sp>
        <p:nvSpPr>
          <p:cNvPr id="23" name="Text 21"/>
          <p:cNvSpPr/>
          <p:nvPr/>
        </p:nvSpPr>
        <p:spPr>
          <a:xfrm>
            <a:off x="8631936" y="1883664"/>
            <a:ext cx="2450592" cy="160934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10" dirty="0">
                <a:solidFill>
                  <a:srgbClr val="D7DCE5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慢病管理是国家公卫重点方向，但医院缺的是“执行系统”，不是再多一份报告。</a:t>
            </a:r>
            <a:endParaRPr lang="en-US" sz="1010" dirty="0"/>
          </a:p>
          <a:p>
            <a:pPr marL="152400" indent="-152400">
              <a:buSzPct val="100000"/>
              <a:buChar char="•"/>
            </a:pPr>
            <a:r>
              <a:rPr lang="en-US" sz="1010" dirty="0">
                <a:solidFill>
                  <a:srgbClr val="D7DCE5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因此我们的重点不是做泛问答，而是把长期管理拆成可分配、可解释、可复评的动作。</a:t>
            </a:r>
            <a:endParaRPr lang="en-US" sz="1010" dirty="0"/>
          </a:p>
          <a:p>
            <a:pPr marL="152400" indent="-152400">
              <a:buSzPct val="100000"/>
              <a:buChar char="•"/>
            </a:pPr>
            <a:r>
              <a:rPr lang="en-US" sz="1010" dirty="0">
                <a:solidFill>
                  <a:srgbClr val="D7DCE5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这也是平台区别于通用医疗 AI 的根本。</a:t>
            </a:r>
            <a:endParaRPr lang="en-US" sz="1010" dirty="0"/>
          </a:p>
        </p:txBody>
      </p:sp>
      <p:sp>
        <p:nvSpPr>
          <p:cNvPr id="24" name="Shape 22"/>
          <p:cNvSpPr/>
          <p:nvPr/>
        </p:nvSpPr>
        <p:spPr>
          <a:xfrm>
            <a:off x="676656" y="4334256"/>
            <a:ext cx="7095744" cy="1883664"/>
          </a:xfrm>
          <a:prstGeom prst="roundRect">
            <a:avLst>
              <a:gd name="adj" fmla="val 7767"/>
            </a:avLst>
          </a:prstGeom>
          <a:solidFill>
            <a:srgbClr val="171C24"/>
          </a:solidFill>
          <a:ln w="12700">
            <a:solidFill>
              <a:srgbClr val="293241"/>
            </a:solidFill>
            <a:prstDash val="solid"/>
          </a:ln>
          <a:effectLst>
            <a:outerShdw blurRad="25400" dist="635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5" name="Image 0" descr="/Users/linzhang/Desktop/      OPC/健康管理/demo-ppt/assets/timeline-collaboration-risk.png"/>
          <p:cNvPicPr>
            <a:picLocks noChangeAspect="1"/>
          </p:cNvPicPr>
          <p:nvPr/>
        </p:nvPicPr>
        <p:blipFill>
          <a:blip r:embed="rId1"/>
          <a:srcRect t="44444" b="44444"/>
          <a:stretch>
            <a:fillRect/>
          </a:stretch>
        </p:blipFill>
        <p:spPr>
          <a:xfrm>
            <a:off x="731520" y="4389120"/>
            <a:ext cx="6986016" cy="1773936"/>
          </a:xfrm>
          <a:prstGeom prst="rect">
            <a:avLst/>
          </a:prstGeom>
        </p:spPr>
      </p:pic>
      <p:sp>
        <p:nvSpPr>
          <p:cNvPr id="26" name="Shape 23"/>
          <p:cNvSpPr/>
          <p:nvPr/>
        </p:nvSpPr>
        <p:spPr>
          <a:xfrm>
            <a:off x="8065008" y="4992624"/>
            <a:ext cx="3474720" cy="1225296"/>
          </a:xfrm>
          <a:prstGeom prst="roundRect">
            <a:avLst>
              <a:gd name="adj" fmla="val 11940"/>
            </a:avLst>
          </a:prstGeom>
          <a:solidFill>
            <a:srgbClr val="11284B"/>
          </a:solidFill>
          <a:ln w="12700">
            <a:solidFill>
              <a:srgbClr val="2F7BF6"/>
            </a:solidFill>
            <a:prstDash val="solid"/>
          </a:ln>
          <a:effectLst>
            <a:outerShdw blurRad="25400" dist="635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8302752" y="5248656"/>
            <a:ext cx="1097280" cy="1280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F9FAFB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一句话总结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8302752" y="5504688"/>
            <a:ext cx="2962656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D7DCE5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医院真正需要的，是一套能把患者风险、行为干预和跨角色协同组织起来的慢病管理操作平台。</a:t>
            </a:r>
            <a:endParaRPr lang="en-US" sz="1020" dirty="0"/>
          </a:p>
        </p:txBody>
      </p:sp>
      <p:sp>
        <p:nvSpPr>
          <p:cNvPr id="29" name="Text 26"/>
          <p:cNvSpPr/>
          <p:nvPr/>
        </p:nvSpPr>
        <p:spPr>
          <a:xfrm>
            <a:off x="5998464" y="6473952"/>
            <a:ext cx="219456" cy="91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F9AAA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6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82912" y="182880"/>
            <a:ext cx="256032" cy="256032"/>
          </a:xfrm>
          <a:prstGeom prst="hexagon">
            <a:avLst/>
          </a:prstGeom>
          <a:solidFill>
            <a:srgbClr val="35D0E8"/>
          </a:solidFill>
          <a:ln w="12700">
            <a:solidFill>
              <a:srgbClr val="35D0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02368" y="182880"/>
            <a:ext cx="256032" cy="256032"/>
          </a:xfrm>
          <a:prstGeom prst="hexagon">
            <a:avLst/>
          </a:prstGeom>
          <a:solidFill>
            <a:srgbClr val="2F7BF6"/>
          </a:solidFill>
          <a:ln w="12700">
            <a:solidFill>
              <a:srgbClr val="2F7B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76688" y="164592"/>
            <a:ext cx="1371600" cy="1280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80" b="1" dirty="0">
                <a:solidFill>
                  <a:srgbClr val="F9FAFB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灵核AI虾客松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9985248" y="310896"/>
            <a:ext cx="1536192" cy="1097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80" dirty="0">
                <a:solidFill>
                  <a:srgbClr val="8F9AAA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LinkClaw Hackathon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548640" y="292608"/>
            <a:ext cx="58521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9FAFB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解决方案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48640" y="603504"/>
            <a:ext cx="76809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8F9AAA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我们把慢病管理拆成三条连续能力链：风险分层、行为干预、MDT 协同。</a:t>
            </a:r>
            <a:endParaRPr lang="en-US" sz="960" dirty="0"/>
          </a:p>
        </p:txBody>
      </p:sp>
      <p:sp>
        <p:nvSpPr>
          <p:cNvPr id="8" name="Text 6"/>
          <p:cNvSpPr/>
          <p:nvPr/>
        </p:nvSpPr>
        <p:spPr>
          <a:xfrm>
            <a:off x="8412480" y="603504"/>
            <a:ext cx="301752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8F9AAA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Solution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58368" y="1353312"/>
            <a:ext cx="10972800" cy="786384"/>
          </a:xfrm>
          <a:prstGeom prst="roundRect">
            <a:avLst>
              <a:gd name="adj" fmla="val 18605"/>
            </a:avLst>
          </a:prstGeom>
          <a:solidFill>
            <a:srgbClr val="171C24"/>
          </a:solidFill>
          <a:ln w="12700">
            <a:solidFill>
              <a:srgbClr val="293241"/>
            </a:solidFill>
            <a:prstDash val="solid"/>
          </a:ln>
          <a:effectLst>
            <a:outerShdw blurRad="25400" dist="635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96112" y="1554480"/>
            <a:ext cx="146304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35D0E8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一句话说明慢病链路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048256" y="1499616"/>
            <a:ext cx="9107424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9FAFB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识别谁最需要优先管理 → 给出什么干预包 → 由谁负责协同执行 → 如何在 4/8/12 周持续复评。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49808" y="2542032"/>
            <a:ext cx="3273552" cy="2304288"/>
          </a:xfrm>
          <a:prstGeom prst="roundRect">
            <a:avLst>
              <a:gd name="adj" fmla="val 6349"/>
            </a:avLst>
          </a:prstGeom>
          <a:solidFill>
            <a:srgbClr val="12161D"/>
          </a:solidFill>
          <a:ln w="12700">
            <a:solidFill>
              <a:srgbClr val="293241"/>
            </a:solidFill>
            <a:prstDash val="solid"/>
          </a:ln>
          <a:effectLst>
            <a:outerShdw blurRad="25400" dist="635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32688" y="2743200"/>
            <a:ext cx="512064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F7BF6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01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932688" y="3145536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9FAFB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精准风险分层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32688" y="3511296"/>
            <a:ext cx="2743200" cy="7498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D7DCE5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按心血管、糖尿病、认知、睡眠等疾病领域进行风险拆解，并生成优先级队列。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32688" y="4498848"/>
            <a:ext cx="1133856" cy="274320"/>
          </a:xfrm>
          <a:prstGeom prst="roundRect">
            <a:avLst>
              <a:gd name="adj" fmla="val 30000"/>
            </a:avLst>
          </a:prstGeom>
          <a:solidFill>
            <a:srgbClr val="11284B"/>
          </a:solidFill>
          <a:ln w="12700">
            <a:solidFill>
              <a:srgbClr val="11284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2688" y="4553712"/>
            <a:ext cx="1133856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9FAFB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风险域雷达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480560" y="2542032"/>
            <a:ext cx="3273552" cy="2304288"/>
          </a:xfrm>
          <a:prstGeom prst="roundRect">
            <a:avLst>
              <a:gd name="adj" fmla="val 6349"/>
            </a:avLst>
          </a:prstGeom>
          <a:solidFill>
            <a:srgbClr val="12161D"/>
          </a:solidFill>
          <a:ln w="12700">
            <a:solidFill>
              <a:srgbClr val="293241"/>
            </a:solidFill>
            <a:prstDash val="solid"/>
          </a:ln>
          <a:effectLst>
            <a:outerShdw blurRad="25400" dist="635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663440" y="2743200"/>
            <a:ext cx="512064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35D0E8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02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4663440" y="3145536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9FAFB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行为干预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663440" y="3511296"/>
            <a:ext cx="2743200" cy="7498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D7DCE5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围绕饮食、运动、睡眠、生活方式生成整合疗法包，并跟踪起效与依从性。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4498848"/>
            <a:ext cx="1133856" cy="274320"/>
          </a:xfrm>
          <a:prstGeom prst="roundRect">
            <a:avLst>
              <a:gd name="adj" fmla="val 30000"/>
            </a:avLst>
          </a:prstGeom>
          <a:solidFill>
            <a:srgbClr val="143944"/>
          </a:solidFill>
          <a:ln w="12700">
            <a:solidFill>
              <a:srgbClr val="1439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4553712"/>
            <a:ext cx="1133856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9FAFB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疗法包执行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8211312" y="2542032"/>
            <a:ext cx="3273552" cy="2304288"/>
          </a:xfrm>
          <a:prstGeom prst="roundRect">
            <a:avLst>
              <a:gd name="adj" fmla="val 6349"/>
            </a:avLst>
          </a:prstGeom>
          <a:solidFill>
            <a:srgbClr val="12161D"/>
          </a:solidFill>
          <a:ln w="12700">
            <a:solidFill>
              <a:srgbClr val="293241"/>
            </a:solidFill>
            <a:prstDash val="solid"/>
          </a:ln>
          <a:effectLst>
            <a:outerShdw blurRad="25400" dist="635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394192" y="2743200"/>
            <a:ext cx="512064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F7BF6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03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8394192" y="3145536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9FAFB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MDT 在线协作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394192" y="3511296"/>
            <a:ext cx="2743200" cy="7498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D7DCE5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让专科医生、全科医生、健康管理师围绕同一患者在同一流程内协同执行。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394192" y="4498848"/>
            <a:ext cx="1133856" cy="274320"/>
          </a:xfrm>
          <a:prstGeom prst="roundRect">
            <a:avLst>
              <a:gd name="adj" fmla="val 30000"/>
            </a:avLst>
          </a:prstGeom>
          <a:solidFill>
            <a:srgbClr val="11284B"/>
          </a:solidFill>
          <a:ln w="12700">
            <a:solidFill>
              <a:srgbClr val="11284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94192" y="4553712"/>
            <a:ext cx="1133856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9FAFB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MDT 会诊闭环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49808" y="5175504"/>
            <a:ext cx="4956048" cy="1133856"/>
          </a:xfrm>
          <a:prstGeom prst="roundRect">
            <a:avLst>
              <a:gd name="adj" fmla="val 12903"/>
            </a:avLst>
          </a:prstGeom>
          <a:solidFill>
            <a:srgbClr val="171C24"/>
          </a:solidFill>
          <a:ln w="12700">
            <a:solidFill>
              <a:srgbClr val="293241"/>
            </a:solidFill>
            <a:prstDash val="solid"/>
          </a:ln>
          <a:effectLst>
            <a:outerShdw blurRad="25400" dist="635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31" name="Image 0" descr="/Users/linzhang/Desktop/      OPC/健康管理/demo-ppt/assets/header-controls.png"/>
          <p:cNvPicPr>
            <a:picLocks noChangeAspect="1"/>
          </p:cNvPicPr>
          <p:nvPr/>
        </p:nvPicPr>
        <p:blipFill>
          <a:blip r:embed="rId1"/>
          <a:srcRect l="9206" r="9206"/>
          <a:stretch>
            <a:fillRect/>
          </a:stretch>
        </p:blipFill>
        <p:spPr>
          <a:xfrm>
            <a:off x="804672" y="5230368"/>
            <a:ext cx="4846320" cy="1024128"/>
          </a:xfrm>
          <a:prstGeom prst="rect">
            <a:avLst/>
          </a:prstGeom>
        </p:spPr>
      </p:pic>
      <p:sp>
        <p:nvSpPr>
          <p:cNvPr id="32" name="Shape 29"/>
          <p:cNvSpPr/>
          <p:nvPr/>
        </p:nvSpPr>
        <p:spPr>
          <a:xfrm>
            <a:off x="5961888" y="5175504"/>
            <a:ext cx="5376672" cy="1133856"/>
          </a:xfrm>
          <a:prstGeom prst="roundRect">
            <a:avLst>
              <a:gd name="adj" fmla="val 12903"/>
            </a:avLst>
          </a:prstGeom>
          <a:solidFill>
            <a:srgbClr val="171C24"/>
          </a:solidFill>
          <a:ln w="12700">
            <a:solidFill>
              <a:srgbClr val="293241"/>
            </a:solidFill>
            <a:prstDash val="solid"/>
          </a:ln>
          <a:effectLst>
            <a:outerShdw blurRad="25400" dist="635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6217920" y="5413248"/>
            <a:ext cx="1353312" cy="1280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35D0E8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落到页面上的产品形态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6217920" y="5650992"/>
            <a:ext cx="4626864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D7DCE5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区级总览看网络与负荷，医院管理视图看绩效与协同，医生工作台看单患者风险、整合管理与 MDT。</a:t>
            </a:r>
            <a:endParaRPr lang="en-US" sz="1020" dirty="0"/>
          </a:p>
        </p:txBody>
      </p:sp>
      <p:sp>
        <p:nvSpPr>
          <p:cNvPr id="35" name="Text 32"/>
          <p:cNvSpPr/>
          <p:nvPr/>
        </p:nvSpPr>
        <p:spPr>
          <a:xfrm>
            <a:off x="5998464" y="6473952"/>
            <a:ext cx="219456" cy="91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F9AAA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6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82912" y="182880"/>
            <a:ext cx="256032" cy="256032"/>
          </a:xfrm>
          <a:prstGeom prst="hexagon">
            <a:avLst/>
          </a:prstGeom>
          <a:solidFill>
            <a:srgbClr val="35D0E8"/>
          </a:solidFill>
          <a:ln w="12700">
            <a:solidFill>
              <a:srgbClr val="35D0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02368" y="182880"/>
            <a:ext cx="256032" cy="256032"/>
          </a:xfrm>
          <a:prstGeom prst="hexagon">
            <a:avLst/>
          </a:prstGeom>
          <a:solidFill>
            <a:srgbClr val="2F7BF6"/>
          </a:solidFill>
          <a:ln w="12700">
            <a:solidFill>
              <a:srgbClr val="2F7B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76688" y="164592"/>
            <a:ext cx="1371600" cy="1280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80" b="1" dirty="0">
                <a:solidFill>
                  <a:srgbClr val="F9FAFB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灵核AI虾客松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9985248" y="310896"/>
            <a:ext cx="1536192" cy="1097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80" dirty="0">
                <a:solidFill>
                  <a:srgbClr val="8F9AAA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LinkClaw Hackathon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548640" y="292608"/>
            <a:ext cx="58521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9FAFB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Agent 工作流程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48640" y="603504"/>
            <a:ext cx="76809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8F9AAA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OpenClaw 负责智能体编排，医疗规则与推荐引擎负责把输出变成安全、可执行的结构化结果。</a:t>
            </a:r>
            <a:endParaRPr lang="en-US" sz="960" dirty="0"/>
          </a:p>
        </p:txBody>
      </p:sp>
      <p:sp>
        <p:nvSpPr>
          <p:cNvPr id="8" name="Text 6"/>
          <p:cNvSpPr/>
          <p:nvPr/>
        </p:nvSpPr>
        <p:spPr>
          <a:xfrm>
            <a:off x="8412480" y="603504"/>
            <a:ext cx="301752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8F9AAA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Agent workflow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94944" y="1225296"/>
            <a:ext cx="6382512" cy="804672"/>
          </a:xfrm>
          <a:prstGeom prst="roundRect">
            <a:avLst>
              <a:gd name="adj" fmla="val 18182"/>
            </a:avLst>
          </a:prstGeom>
          <a:solidFill>
            <a:srgbClr val="11284B"/>
          </a:solidFill>
          <a:ln w="12700">
            <a:solidFill>
              <a:srgbClr val="2F7BF6"/>
            </a:solidFill>
            <a:prstDash val="solid"/>
          </a:ln>
          <a:effectLst>
            <a:outerShdw blurRad="25400" dist="635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4400" y="1371600"/>
            <a:ext cx="2267712" cy="1280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b="1" dirty="0">
                <a:solidFill>
                  <a:srgbClr val="F9FAFB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接入层</a:t>
            </a:r>
            <a:endParaRPr lang="en-US" sz="1180" dirty="0"/>
          </a:p>
        </p:txBody>
      </p:sp>
      <p:sp>
        <p:nvSpPr>
          <p:cNvPr id="11" name="Text 9"/>
          <p:cNvSpPr/>
          <p:nvPr/>
        </p:nvSpPr>
        <p:spPr>
          <a:xfrm>
            <a:off x="2596896" y="1371600"/>
            <a:ext cx="3236976" cy="42062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950" dirty="0">
                <a:solidFill>
                  <a:srgbClr val="D7DCE5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医院 / 卫健委 / HIS / EMR / 可穿戴设备</a:t>
            </a:r>
            <a:endParaRPr lang="en-US" sz="950" dirty="0"/>
          </a:p>
          <a:p>
            <a:pPr marL="152400" indent="-152400">
              <a:buSzPct val="100000"/>
              <a:buChar char="•"/>
            </a:pPr>
            <a:r>
              <a:rPr lang="en-US" sz="950" dirty="0">
                <a:solidFill>
                  <a:srgbClr val="D7DCE5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统一授权、数据脱敏、API 网关、日志与计费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639312" y="2011680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5D0E8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↓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94944" y="2340864"/>
            <a:ext cx="6382512" cy="804672"/>
          </a:xfrm>
          <a:prstGeom prst="roundRect">
            <a:avLst>
              <a:gd name="adj" fmla="val 18182"/>
            </a:avLst>
          </a:prstGeom>
          <a:solidFill>
            <a:srgbClr val="171C24"/>
          </a:solidFill>
          <a:ln w="12700">
            <a:solidFill>
              <a:srgbClr val="35D0E8"/>
            </a:solidFill>
            <a:prstDash val="solid"/>
          </a:ln>
          <a:effectLst>
            <a:outerShdw blurRad="25400" dist="635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4400" y="2487168"/>
            <a:ext cx="2267712" cy="1280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b="1" dirty="0">
                <a:solidFill>
                  <a:srgbClr val="F9FAFB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OpenClaw 智能体编排层</a:t>
            </a:r>
            <a:endParaRPr lang="en-US" sz="1180" dirty="0"/>
          </a:p>
        </p:txBody>
      </p:sp>
      <p:sp>
        <p:nvSpPr>
          <p:cNvPr id="15" name="Text 13"/>
          <p:cNvSpPr/>
          <p:nvPr/>
        </p:nvSpPr>
        <p:spPr>
          <a:xfrm>
            <a:off x="2596896" y="2487168"/>
            <a:ext cx="3236976" cy="42062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950" dirty="0">
                <a:solidFill>
                  <a:srgbClr val="D7DCE5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diet_agent / exercise_agent / sleep_agent</a:t>
            </a:r>
            <a:endParaRPr lang="en-US" sz="950" dirty="0"/>
          </a:p>
          <a:p>
            <a:pPr marL="152400" indent="-152400">
              <a:buSzPct val="100000"/>
              <a:buChar char="•"/>
            </a:pPr>
            <a:r>
              <a:rPr lang="en-US" sz="950" dirty="0">
                <a:solidFill>
                  <a:srgbClr val="D7DCE5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router_agent / disease_sub_agents / MDT 协同 agent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639312" y="3127248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5D0E8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↓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94944" y="3456432"/>
            <a:ext cx="6382512" cy="804672"/>
          </a:xfrm>
          <a:prstGeom prst="roundRect">
            <a:avLst>
              <a:gd name="adj" fmla="val 18182"/>
            </a:avLst>
          </a:prstGeom>
          <a:solidFill>
            <a:srgbClr val="22311C"/>
          </a:solidFill>
          <a:ln w="12700">
            <a:solidFill>
              <a:srgbClr val="38D39F"/>
            </a:solidFill>
            <a:prstDash val="solid"/>
          </a:ln>
          <a:effectLst>
            <a:outerShdw blurRad="25400" dist="635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3602736"/>
            <a:ext cx="2267712" cy="1280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b="1" dirty="0">
                <a:solidFill>
                  <a:srgbClr val="F9FAFB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推荐引擎与知识层</a:t>
            </a:r>
            <a:endParaRPr lang="en-US" sz="1180" dirty="0"/>
          </a:p>
        </p:txBody>
      </p:sp>
      <p:sp>
        <p:nvSpPr>
          <p:cNvPr id="19" name="Text 17"/>
          <p:cNvSpPr/>
          <p:nvPr/>
        </p:nvSpPr>
        <p:spPr>
          <a:xfrm>
            <a:off x="2596896" y="3602736"/>
            <a:ext cx="3236976" cy="42062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950" dirty="0">
                <a:solidFill>
                  <a:srgbClr val="D7DCE5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饮食方案库 / 运动处方库 / 睡眠干预策略</a:t>
            </a:r>
            <a:endParaRPr lang="en-US" sz="950" dirty="0"/>
          </a:p>
          <a:p>
            <a:pPr marL="152400" indent="-152400">
              <a:buSzPct val="100000"/>
              <a:buChar char="•"/>
            </a:pPr>
            <a:r>
              <a:rPr lang="en-US" sz="950" dirty="0">
                <a:solidFill>
                  <a:srgbClr val="D7DCE5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药食相互作用检测 / 医学知识图谱 / 用户画像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639312" y="4242816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5D0E8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↓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94944" y="4572000"/>
            <a:ext cx="6382512" cy="804672"/>
          </a:xfrm>
          <a:prstGeom prst="roundRect">
            <a:avLst>
              <a:gd name="adj" fmla="val 18182"/>
            </a:avLst>
          </a:prstGeom>
          <a:solidFill>
            <a:srgbClr val="3A2816"/>
          </a:solidFill>
          <a:ln w="12700">
            <a:solidFill>
              <a:srgbClr val="F7B955"/>
            </a:solidFill>
            <a:prstDash val="solid"/>
          </a:ln>
          <a:effectLst>
            <a:outerShdw blurRad="25400" dist="635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14400" y="4718304"/>
            <a:ext cx="2267712" cy="1280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b="1" dirty="0">
                <a:solidFill>
                  <a:srgbClr val="F9FAFB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数据与运营层</a:t>
            </a:r>
            <a:endParaRPr lang="en-US" sz="1180" dirty="0"/>
          </a:p>
        </p:txBody>
      </p:sp>
      <p:sp>
        <p:nvSpPr>
          <p:cNvPr id="23" name="Text 21"/>
          <p:cNvSpPr/>
          <p:nvPr/>
        </p:nvSpPr>
        <p:spPr>
          <a:xfrm>
            <a:off x="2596896" y="4718304"/>
            <a:ext cx="3236976" cy="42062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950" dirty="0">
                <a:solidFill>
                  <a:srgbClr val="D7DCE5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FHIR / SMART on FHIR / 健康数据 / 订单与服务包</a:t>
            </a:r>
            <a:endParaRPr lang="en-US" sz="950" dirty="0"/>
          </a:p>
          <a:p>
            <a:pPr marL="152400" indent="-152400">
              <a:buSzPct val="100000"/>
              <a:buChar char="•"/>
            </a:pPr>
            <a:r>
              <a:rPr lang="en-US" sz="950" dirty="0">
                <a:solidFill>
                  <a:srgbClr val="D7DCE5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依从性报告 / 模型预测 / 区域运营指标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443216" y="1225296"/>
            <a:ext cx="4041648" cy="4681728"/>
          </a:xfrm>
          <a:prstGeom prst="roundRect">
            <a:avLst>
              <a:gd name="adj" fmla="val 3620"/>
            </a:avLst>
          </a:prstGeom>
          <a:solidFill>
            <a:srgbClr val="12161D"/>
          </a:solidFill>
          <a:ln w="12700">
            <a:solidFill>
              <a:srgbClr val="293241"/>
            </a:solidFill>
            <a:prstDash val="solid"/>
          </a:ln>
          <a:effectLst>
            <a:outerShdw blurRad="25400" dist="635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699248" y="1481328"/>
            <a:ext cx="2304288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9FAFB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为什么 OpenClaw 适合这里</a:t>
            </a:r>
            <a:endParaRPr lang="en-US" sz="1260" dirty="0"/>
          </a:p>
        </p:txBody>
      </p:sp>
      <p:sp>
        <p:nvSpPr>
          <p:cNvPr id="26" name="Text 24"/>
          <p:cNvSpPr/>
          <p:nvPr/>
        </p:nvSpPr>
        <p:spPr>
          <a:xfrm>
            <a:off x="7662672" y="1828800"/>
            <a:ext cx="3383280" cy="16459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00" dirty="0">
                <a:solidFill>
                  <a:srgbClr val="D7DCE5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它更适合做“多智能体任务编排”，而不是单一聊天。</a:t>
            </a:r>
            <a:endParaRPr lang="en-US" sz="1000" dirty="0"/>
          </a:p>
          <a:p>
            <a:pPr marL="152400" indent="-152400">
              <a:buSzPct val="100000"/>
              <a:buChar char="•"/>
            </a:pPr>
            <a:r>
              <a:rPr lang="en-US" sz="1000" dirty="0">
                <a:solidFill>
                  <a:srgbClr val="D7DCE5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饮食、运动、睡眠和专病规则可以作为独立 agent 被路由和组合。</a:t>
            </a:r>
            <a:endParaRPr lang="en-US" sz="1000" dirty="0"/>
          </a:p>
          <a:p>
            <a:pPr marL="152400" indent="-152400">
              <a:buSzPct val="100000"/>
              <a:buChar char="•"/>
            </a:pPr>
            <a:r>
              <a:rPr lang="en-US" sz="1000" dirty="0">
                <a:solidFill>
                  <a:srgbClr val="D7DCE5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平台输出不是一段文本，而是风险队列、疗法包、随访任务、MDT 结论和复评窗口。</a:t>
            </a:r>
            <a:endParaRPr lang="en-US" sz="1000" dirty="0"/>
          </a:p>
          <a:p>
            <a:pPr marL="152400" indent="-152400">
              <a:buSzPct val="100000"/>
              <a:buChar char="•"/>
            </a:pPr>
            <a:r>
              <a:rPr lang="en-US" sz="1000" dirty="0">
                <a:solidFill>
                  <a:srgbClr val="D7DCE5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这让系统更像医院的执行台，而不是一个泛 AI 问答入口。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662672" y="3822192"/>
            <a:ext cx="3328416" cy="1207008"/>
          </a:xfrm>
          <a:prstGeom prst="roundRect">
            <a:avLst>
              <a:gd name="adj" fmla="val 12121"/>
            </a:avLst>
          </a:prstGeom>
          <a:solidFill>
            <a:srgbClr val="11284B"/>
          </a:solidFill>
          <a:ln w="12700">
            <a:solidFill>
              <a:srgbClr val="2F7BF6"/>
            </a:solidFill>
            <a:prstDash val="solid"/>
          </a:ln>
          <a:effectLst>
            <a:outerShdw blurRad="25400" dist="635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918704" y="4096512"/>
            <a:ext cx="1097280" cy="1280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F9FAFB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当前已接入能力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918704" y="4352544"/>
            <a:ext cx="2688336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D7DCE5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MedClaw、KG-Followup、TemporAI、PyHealth、FHIR / SMART on FHIR、栖霞区医院网络仿真。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998464" y="6473952"/>
            <a:ext cx="219456" cy="91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F9AAA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6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82912" y="182880"/>
            <a:ext cx="256032" cy="256032"/>
          </a:xfrm>
          <a:prstGeom prst="hexagon">
            <a:avLst/>
          </a:prstGeom>
          <a:solidFill>
            <a:srgbClr val="35D0E8"/>
          </a:solidFill>
          <a:ln w="12700">
            <a:solidFill>
              <a:srgbClr val="35D0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02368" y="182880"/>
            <a:ext cx="256032" cy="256032"/>
          </a:xfrm>
          <a:prstGeom prst="hexagon">
            <a:avLst/>
          </a:prstGeom>
          <a:solidFill>
            <a:srgbClr val="2F7BF6"/>
          </a:solidFill>
          <a:ln w="12700">
            <a:solidFill>
              <a:srgbClr val="2F7B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76688" y="164592"/>
            <a:ext cx="1371600" cy="1280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80" b="1" dirty="0">
                <a:solidFill>
                  <a:srgbClr val="F9FAFB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灵核AI虾客松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9985248" y="310896"/>
            <a:ext cx="1536192" cy="1097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80" dirty="0">
                <a:solidFill>
                  <a:srgbClr val="8F9AAA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LinkClaw Hackathon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548640" y="292608"/>
            <a:ext cx="58521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9FAFB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产品演示 DEMO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48640" y="603504"/>
            <a:ext cx="76809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8F9AAA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用三张核心界面，说明这套平台已经具备可展示、可试点、可讲解的完成度。</a:t>
            </a:r>
            <a:endParaRPr lang="en-US" sz="960" dirty="0"/>
          </a:p>
        </p:txBody>
      </p:sp>
      <p:sp>
        <p:nvSpPr>
          <p:cNvPr id="8" name="Text 6"/>
          <p:cNvSpPr/>
          <p:nvPr/>
        </p:nvSpPr>
        <p:spPr>
          <a:xfrm>
            <a:off x="8412480" y="603504"/>
            <a:ext cx="301752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8F9AAA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Demo surfaces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58368" y="1188720"/>
            <a:ext cx="3694176" cy="2084832"/>
          </a:xfrm>
          <a:prstGeom prst="roundRect">
            <a:avLst>
              <a:gd name="adj" fmla="val 7018"/>
            </a:avLst>
          </a:prstGeom>
          <a:solidFill>
            <a:srgbClr val="171C24"/>
          </a:solidFill>
          <a:ln w="12700">
            <a:solidFill>
              <a:srgbClr val="293241"/>
            </a:solidFill>
            <a:prstDash val="solid"/>
          </a:ln>
          <a:effectLst>
            <a:outerShdw blurRad="25400" dist="635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0" name="Image 0" descr="/Users/linzhang/Desktop/      OPC/健康管理/demo-ppt/assets/hero-intr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968482"/>
            <a:ext cx="3584448" cy="525307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517136" y="1188720"/>
            <a:ext cx="3694176" cy="2084832"/>
          </a:xfrm>
          <a:prstGeom prst="roundRect">
            <a:avLst>
              <a:gd name="adj" fmla="val 7018"/>
            </a:avLst>
          </a:prstGeom>
          <a:solidFill>
            <a:srgbClr val="171C24"/>
          </a:solidFill>
          <a:ln w="12700">
            <a:solidFill>
              <a:srgbClr val="293241"/>
            </a:solidFill>
            <a:prstDash val="solid"/>
          </a:ln>
          <a:effectLst>
            <a:outerShdw blurRad="25400" dist="635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2" name="Image 1" descr="/Users/linzhang/Desktop/      OPC/健康管理/demo-ppt/assets/dashboard-role-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0481" y="1243584"/>
            <a:ext cx="2867485" cy="1975104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8375904" y="1188720"/>
            <a:ext cx="3145536" cy="2084832"/>
          </a:xfrm>
          <a:prstGeom prst="roundRect">
            <a:avLst>
              <a:gd name="adj" fmla="val 7018"/>
            </a:avLst>
          </a:prstGeom>
          <a:solidFill>
            <a:srgbClr val="171C24"/>
          </a:solidFill>
          <a:ln w="12700">
            <a:solidFill>
              <a:srgbClr val="293241"/>
            </a:solidFill>
            <a:prstDash val="solid"/>
          </a:ln>
          <a:effectLst>
            <a:outerShdw blurRad="25400" dist="635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4" name="Image 2" descr="/Users/linzhang/Desktop/      OPC/健康管理/demo-ppt/assets/patient-progr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1872" y="1243584"/>
            <a:ext cx="793599" cy="1975104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658368" y="3566160"/>
            <a:ext cx="10972800" cy="2212848"/>
          </a:xfrm>
          <a:prstGeom prst="roundRect">
            <a:avLst>
              <a:gd name="adj" fmla="val 6612"/>
            </a:avLst>
          </a:prstGeom>
          <a:solidFill>
            <a:srgbClr val="171C24"/>
          </a:solidFill>
          <a:ln w="12700">
            <a:solidFill>
              <a:srgbClr val="293241"/>
            </a:solidFill>
            <a:prstDash val="solid"/>
          </a:ln>
          <a:effectLst>
            <a:outerShdw blurRad="25400" dist="635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1"/>
          <p:cNvSpPr/>
          <p:nvPr/>
        </p:nvSpPr>
        <p:spPr>
          <a:xfrm>
            <a:off x="896112" y="3877056"/>
            <a:ext cx="128016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F9FAFB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区级总览</a:t>
            </a:r>
            <a:endParaRPr lang="en-US" sz="1220" dirty="0"/>
          </a:p>
        </p:txBody>
      </p:sp>
      <p:sp>
        <p:nvSpPr>
          <p:cNvPr id="17" name="Text 12"/>
          <p:cNvSpPr/>
          <p:nvPr/>
        </p:nvSpPr>
        <p:spPr>
          <a:xfrm>
            <a:off x="896112" y="4169664"/>
            <a:ext cx="2852928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D7DCE5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看栖霞区医院网络、病种负荷、雷达总览和区级动态指挥。</a:t>
            </a:r>
            <a:endParaRPr lang="en-US" sz="980" dirty="0"/>
          </a:p>
        </p:txBody>
      </p:sp>
      <p:sp>
        <p:nvSpPr>
          <p:cNvPr id="18" name="Text 13"/>
          <p:cNvSpPr/>
          <p:nvPr/>
        </p:nvSpPr>
        <p:spPr>
          <a:xfrm>
            <a:off x="4517136" y="3877056"/>
            <a:ext cx="128016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F9FAFB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医院管理视图</a:t>
            </a:r>
            <a:endParaRPr lang="en-US" sz="1220" dirty="0"/>
          </a:p>
        </p:txBody>
      </p:sp>
      <p:sp>
        <p:nvSpPr>
          <p:cNvPr id="19" name="Text 14"/>
          <p:cNvSpPr/>
          <p:nvPr/>
        </p:nvSpPr>
        <p:spPr>
          <a:xfrm>
            <a:off x="4517136" y="4169664"/>
            <a:ext cx="2852928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D7DCE5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看患者数、起效率、覆盖率、医院绩效横向对比和三级协同。</a:t>
            </a:r>
            <a:endParaRPr lang="en-US" sz="980" dirty="0"/>
          </a:p>
        </p:txBody>
      </p:sp>
      <p:sp>
        <p:nvSpPr>
          <p:cNvPr id="20" name="Text 15"/>
          <p:cNvSpPr/>
          <p:nvPr/>
        </p:nvSpPr>
        <p:spPr>
          <a:xfrm>
            <a:off x="8138160" y="3877056"/>
            <a:ext cx="128016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F9FAFB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医生工作视图</a:t>
            </a:r>
            <a:endParaRPr lang="en-US" sz="1220" dirty="0"/>
          </a:p>
        </p:txBody>
      </p:sp>
      <p:sp>
        <p:nvSpPr>
          <p:cNvPr id="21" name="Text 16"/>
          <p:cNvSpPr/>
          <p:nvPr/>
        </p:nvSpPr>
        <p:spPr>
          <a:xfrm>
            <a:off x="8138160" y="4169664"/>
            <a:ext cx="2852928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D7DCE5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看患者画像、风险分层、整合管理、行为干预、AI 病历和 MDT 在线讨论。</a:t>
            </a:r>
            <a:endParaRPr lang="en-US" sz="980" dirty="0"/>
          </a:p>
        </p:txBody>
      </p:sp>
      <p:sp>
        <p:nvSpPr>
          <p:cNvPr id="22" name="Text 17"/>
          <p:cNvSpPr/>
          <p:nvPr/>
        </p:nvSpPr>
        <p:spPr>
          <a:xfrm>
            <a:off x="896112" y="5285232"/>
            <a:ext cx="658368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35D0E8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建议现场演示顺序：区级总览 → 医院管理视图 → 医生工作台 → 单患者 12 周改善 → MDT 协作闭环。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5998464" y="6473952"/>
            <a:ext cx="219456" cy="91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F9AAA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6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82912" y="182880"/>
            <a:ext cx="256032" cy="256032"/>
          </a:xfrm>
          <a:prstGeom prst="hexagon">
            <a:avLst/>
          </a:prstGeom>
          <a:solidFill>
            <a:srgbClr val="35D0E8"/>
          </a:solidFill>
          <a:ln w="12700">
            <a:solidFill>
              <a:srgbClr val="35D0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02368" y="182880"/>
            <a:ext cx="256032" cy="256032"/>
          </a:xfrm>
          <a:prstGeom prst="hexagon">
            <a:avLst/>
          </a:prstGeom>
          <a:solidFill>
            <a:srgbClr val="2F7BF6"/>
          </a:solidFill>
          <a:ln w="12700">
            <a:solidFill>
              <a:srgbClr val="2F7B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76688" y="164592"/>
            <a:ext cx="1371600" cy="1280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80" b="1" dirty="0">
                <a:solidFill>
                  <a:srgbClr val="F9FAFB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灵核AI虾客松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9985248" y="310896"/>
            <a:ext cx="1536192" cy="1097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80" dirty="0">
                <a:solidFill>
                  <a:srgbClr val="8F9AAA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LinkClaw Hackathon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548640" y="292608"/>
            <a:ext cx="58521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9FAFB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安全性设计（加分项）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48640" y="603504"/>
            <a:ext cx="76809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8F9AAA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医疗类项目在评审中很容易被安全与合规一票否决，这页必须明确回答。</a:t>
            </a:r>
            <a:endParaRPr lang="en-US" sz="960" dirty="0"/>
          </a:p>
        </p:txBody>
      </p:sp>
      <p:sp>
        <p:nvSpPr>
          <p:cNvPr id="8" name="Text 6"/>
          <p:cNvSpPr/>
          <p:nvPr/>
        </p:nvSpPr>
        <p:spPr>
          <a:xfrm>
            <a:off x="8412480" y="603504"/>
            <a:ext cx="301752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8F9AAA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Security and compliance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13232" y="1243584"/>
            <a:ext cx="5248656" cy="896112"/>
          </a:xfrm>
          <a:prstGeom prst="roundRect">
            <a:avLst>
              <a:gd name="adj" fmla="val 16327"/>
            </a:avLst>
          </a:prstGeom>
          <a:solidFill>
            <a:srgbClr val="171C24"/>
          </a:solidFill>
          <a:ln w="12700">
            <a:solidFill>
              <a:srgbClr val="293241"/>
            </a:solidFill>
            <a:prstDash val="solid"/>
          </a:ln>
          <a:effectLst>
            <a:outerShdw blurRad="25400" dist="635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96112" y="1389888"/>
            <a:ext cx="1645920" cy="1280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b="1" dirty="0">
                <a:solidFill>
                  <a:srgbClr val="F9FAFB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最小权限边界</a:t>
            </a:r>
            <a:endParaRPr lang="en-US" sz="1140" dirty="0"/>
          </a:p>
        </p:txBody>
      </p:sp>
      <p:sp>
        <p:nvSpPr>
          <p:cNvPr id="11" name="Text 9"/>
          <p:cNvSpPr/>
          <p:nvPr/>
        </p:nvSpPr>
        <p:spPr>
          <a:xfrm>
            <a:off x="2505456" y="1389888"/>
            <a:ext cx="3090672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D7DCE5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智能体不直接裸连全网和全系统，平台强调受控工具与规则层。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6181344" y="1243584"/>
            <a:ext cx="5248656" cy="896112"/>
          </a:xfrm>
          <a:prstGeom prst="roundRect">
            <a:avLst>
              <a:gd name="adj" fmla="val 16327"/>
            </a:avLst>
          </a:prstGeom>
          <a:solidFill>
            <a:srgbClr val="171C24"/>
          </a:solidFill>
          <a:ln w="12700">
            <a:solidFill>
              <a:srgbClr val="293241"/>
            </a:solidFill>
            <a:prstDash val="solid"/>
          </a:ln>
          <a:effectLst>
            <a:outerShdw blurRad="25400" dist="635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64224" y="1389888"/>
            <a:ext cx="1645920" cy="1280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b="1" dirty="0">
                <a:solidFill>
                  <a:srgbClr val="F9FAFB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角色与医院隔离</a:t>
            </a:r>
            <a:endParaRPr lang="en-US" sz="1140" dirty="0"/>
          </a:p>
        </p:txBody>
      </p:sp>
      <p:sp>
        <p:nvSpPr>
          <p:cNvPr id="14" name="Text 12"/>
          <p:cNvSpPr/>
          <p:nvPr/>
        </p:nvSpPr>
        <p:spPr>
          <a:xfrm>
            <a:off x="7973568" y="1389888"/>
            <a:ext cx="3090672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D7DCE5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区级、医院、医生、健康管理师按角色与范围访问，不同医院之间天然隔离。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713232" y="2395728"/>
            <a:ext cx="5248656" cy="896112"/>
          </a:xfrm>
          <a:prstGeom prst="roundRect">
            <a:avLst>
              <a:gd name="adj" fmla="val 16327"/>
            </a:avLst>
          </a:prstGeom>
          <a:solidFill>
            <a:srgbClr val="171C24"/>
          </a:solidFill>
          <a:ln w="12700">
            <a:solidFill>
              <a:srgbClr val="293241"/>
            </a:solidFill>
            <a:prstDash val="solid"/>
          </a:ln>
          <a:effectLst>
            <a:outerShdw blurRad="25400" dist="635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96112" y="2542032"/>
            <a:ext cx="1645920" cy="1280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b="1" dirty="0">
                <a:solidFill>
                  <a:srgbClr val="F9FAFB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数据脱敏与留痕</a:t>
            </a:r>
            <a:endParaRPr lang="en-US" sz="1140" dirty="0"/>
          </a:p>
        </p:txBody>
      </p:sp>
      <p:sp>
        <p:nvSpPr>
          <p:cNvPr id="17" name="Text 15"/>
          <p:cNvSpPr/>
          <p:nvPr/>
        </p:nvSpPr>
        <p:spPr>
          <a:xfrm>
            <a:off x="2505456" y="2542032"/>
            <a:ext cx="3090672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D7DCE5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接入层强调授权、脱敏、审计与操作日志，避免把敏感信息暴露到前台。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6181344" y="2395728"/>
            <a:ext cx="5248656" cy="896112"/>
          </a:xfrm>
          <a:prstGeom prst="roundRect">
            <a:avLst>
              <a:gd name="adj" fmla="val 16327"/>
            </a:avLst>
          </a:prstGeom>
          <a:solidFill>
            <a:srgbClr val="171C24"/>
          </a:solidFill>
          <a:ln w="12700">
            <a:solidFill>
              <a:srgbClr val="293241"/>
            </a:solidFill>
            <a:prstDash val="solid"/>
          </a:ln>
          <a:effectLst>
            <a:outerShdw blurRad="25400" dist="635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364224" y="2542032"/>
            <a:ext cx="1645920" cy="1280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b="1" dirty="0">
                <a:solidFill>
                  <a:srgbClr val="F9FAFB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规则引擎兜底</a:t>
            </a:r>
            <a:endParaRPr lang="en-US" sz="1140" dirty="0"/>
          </a:p>
        </p:txBody>
      </p:sp>
      <p:sp>
        <p:nvSpPr>
          <p:cNvPr id="20" name="Text 18"/>
          <p:cNvSpPr/>
          <p:nvPr/>
        </p:nvSpPr>
        <p:spPr>
          <a:xfrm>
            <a:off x="7973568" y="2542032"/>
            <a:ext cx="3090672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D7DCE5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饮食、运动、药食相互作用、危险行为建议都需要经过医学约束校验。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713232" y="3547872"/>
            <a:ext cx="5248656" cy="896112"/>
          </a:xfrm>
          <a:prstGeom prst="roundRect">
            <a:avLst>
              <a:gd name="adj" fmla="val 16327"/>
            </a:avLst>
          </a:prstGeom>
          <a:solidFill>
            <a:srgbClr val="171C24"/>
          </a:solidFill>
          <a:ln w="12700">
            <a:solidFill>
              <a:srgbClr val="293241"/>
            </a:solidFill>
            <a:prstDash val="solid"/>
          </a:ln>
          <a:effectLst>
            <a:outerShdw blurRad="25400" dist="635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96112" y="3694176"/>
            <a:ext cx="1645920" cy="1280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b="1" dirty="0">
                <a:solidFill>
                  <a:srgbClr val="F9FAFB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标准化接入链</a:t>
            </a:r>
            <a:endParaRPr lang="en-US" sz="1140" dirty="0"/>
          </a:p>
        </p:txBody>
      </p:sp>
      <p:sp>
        <p:nvSpPr>
          <p:cNvPr id="23" name="Text 21"/>
          <p:cNvSpPr/>
          <p:nvPr/>
        </p:nvSpPr>
        <p:spPr>
          <a:xfrm>
            <a:off x="2505456" y="3694176"/>
            <a:ext cx="3090672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D7DCE5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FHIR / SMART on FHIR 让授权、资源访问和范围控制更清晰，便于后续合规落地。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713232" y="4919472"/>
            <a:ext cx="10716768" cy="1005840"/>
          </a:xfrm>
          <a:prstGeom prst="roundRect">
            <a:avLst>
              <a:gd name="adj" fmla="val 14545"/>
            </a:avLst>
          </a:prstGeom>
          <a:solidFill>
            <a:srgbClr val="11284B"/>
          </a:solidFill>
          <a:ln w="12700">
            <a:solidFill>
              <a:srgbClr val="2F7BF6"/>
            </a:solidFill>
            <a:prstDash val="solid"/>
          </a:ln>
          <a:effectLst>
            <a:outerShdw blurRad="25400" dist="635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50976" y="5193792"/>
            <a:ext cx="1005840" cy="1280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F9FAFB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评审口径建议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029968" y="5138928"/>
            <a:ext cx="8796528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10" dirty="0">
                <a:solidFill>
                  <a:srgbClr val="D7DCE5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我们把安全设计放在系统架构层，而不是靠大模型“自觉”。平台定位为辅助管理工具，不替代医生诊断，所有建议都可以追溯到规则和证据。</a:t>
            </a:r>
            <a:endParaRPr lang="en-US" sz="1010" dirty="0"/>
          </a:p>
        </p:txBody>
      </p:sp>
      <p:sp>
        <p:nvSpPr>
          <p:cNvPr id="27" name="Text 25"/>
          <p:cNvSpPr/>
          <p:nvPr/>
        </p:nvSpPr>
        <p:spPr>
          <a:xfrm>
            <a:off x="5998464" y="6473952"/>
            <a:ext cx="219456" cy="91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F9AAA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6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82912" y="182880"/>
            <a:ext cx="256032" cy="256032"/>
          </a:xfrm>
          <a:prstGeom prst="hexagon">
            <a:avLst/>
          </a:prstGeom>
          <a:solidFill>
            <a:srgbClr val="35D0E8"/>
          </a:solidFill>
          <a:ln w="12700">
            <a:solidFill>
              <a:srgbClr val="35D0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02368" y="182880"/>
            <a:ext cx="256032" cy="256032"/>
          </a:xfrm>
          <a:prstGeom prst="hexagon">
            <a:avLst/>
          </a:prstGeom>
          <a:solidFill>
            <a:srgbClr val="2F7BF6"/>
          </a:solidFill>
          <a:ln w="12700">
            <a:solidFill>
              <a:srgbClr val="2F7B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76688" y="164592"/>
            <a:ext cx="1371600" cy="1280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80" b="1" dirty="0">
                <a:solidFill>
                  <a:srgbClr val="F9FAFB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灵核AI虾客松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9985248" y="310896"/>
            <a:ext cx="1536192" cy="1097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80" dirty="0">
                <a:solidFill>
                  <a:srgbClr val="8F9AAA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LinkClaw Hackathon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548640" y="292608"/>
            <a:ext cx="58521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9FAFB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行业落地价值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48640" y="603504"/>
            <a:ext cx="76809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8F9AAA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平台不是为了展示炫技，而是为了在医院、基层和区域之间真正形成慢病管理闭环。</a:t>
            </a:r>
            <a:endParaRPr lang="en-US" sz="960" dirty="0"/>
          </a:p>
        </p:txBody>
      </p:sp>
      <p:sp>
        <p:nvSpPr>
          <p:cNvPr id="8" name="Text 6"/>
          <p:cNvSpPr/>
          <p:nvPr/>
        </p:nvSpPr>
        <p:spPr>
          <a:xfrm>
            <a:off x="8412480" y="603504"/>
            <a:ext cx="301752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8F9AAA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Industry value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13232" y="1298448"/>
            <a:ext cx="3328416" cy="4261104"/>
          </a:xfrm>
          <a:prstGeom prst="roundRect">
            <a:avLst>
              <a:gd name="adj" fmla="val 4396"/>
            </a:avLst>
          </a:prstGeom>
          <a:solidFill>
            <a:srgbClr val="11284B"/>
          </a:solidFill>
          <a:ln w="12700">
            <a:solidFill>
              <a:srgbClr val="293241"/>
            </a:solidFill>
            <a:prstDash val="solid"/>
          </a:ln>
          <a:effectLst>
            <a:outerShdw blurRad="25400" dist="635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4400" y="1554480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9FAFB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三甲医院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96112" y="1901952"/>
            <a:ext cx="2816352" cy="124358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D7DCE5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高风险患者优先识别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D7DCE5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专病风险分层与 MDT 复核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D7DCE5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病历、辅助诊断与证据链支持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896112" y="3913632"/>
            <a:ext cx="2852928" cy="1280160"/>
          </a:xfrm>
          <a:prstGeom prst="roundRect">
            <a:avLst>
              <a:gd name="adj" fmla="val 11429"/>
            </a:avLst>
          </a:prstGeom>
          <a:solidFill>
            <a:srgbClr val="0D1015"/>
          </a:solidFill>
          <a:ln w="12700">
            <a:solidFill>
              <a:srgbClr val="29324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0704" y="4169664"/>
            <a:ext cx="914400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b="1" dirty="0">
                <a:solidFill>
                  <a:srgbClr val="35D0E8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落地价值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1060704" y="4443984"/>
            <a:ext cx="2432304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D7DCE5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把慢病管理从“诊间服务”扩展成“院内持续管理能力”。</a:t>
            </a:r>
            <a:endParaRPr lang="en-US" sz="960" dirty="0"/>
          </a:p>
        </p:txBody>
      </p:sp>
      <p:sp>
        <p:nvSpPr>
          <p:cNvPr id="15" name="Shape 13"/>
          <p:cNvSpPr/>
          <p:nvPr/>
        </p:nvSpPr>
        <p:spPr>
          <a:xfrm>
            <a:off x="4498848" y="1298448"/>
            <a:ext cx="3328416" cy="4261104"/>
          </a:xfrm>
          <a:prstGeom prst="roundRect">
            <a:avLst>
              <a:gd name="adj" fmla="val 4396"/>
            </a:avLst>
          </a:prstGeom>
          <a:solidFill>
            <a:srgbClr val="171C24"/>
          </a:solidFill>
          <a:ln w="12700">
            <a:solidFill>
              <a:srgbClr val="293241"/>
            </a:solidFill>
            <a:prstDash val="solid"/>
          </a:ln>
          <a:effectLst>
            <a:outerShdw blurRad="25400" dist="635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00016" y="1554480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9FAFB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社区 / 基层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681728" y="1901952"/>
            <a:ext cx="2816352" cy="124358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D7DCE5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连续随访与复评执行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D7DCE5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全科医生与健康管理师协同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D7DCE5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行为干预包督促与依从性管理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4681728" y="3913632"/>
            <a:ext cx="2852928" cy="1280160"/>
          </a:xfrm>
          <a:prstGeom prst="roundRect">
            <a:avLst>
              <a:gd name="adj" fmla="val 11429"/>
            </a:avLst>
          </a:prstGeom>
          <a:solidFill>
            <a:srgbClr val="0D1015"/>
          </a:solidFill>
          <a:ln w="12700">
            <a:solidFill>
              <a:srgbClr val="29324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4169664"/>
            <a:ext cx="914400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b="1" dirty="0">
                <a:solidFill>
                  <a:srgbClr val="35D0E8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落地价值</a:t>
            </a:r>
            <a:endParaRPr lang="en-US" sz="960" dirty="0"/>
          </a:p>
        </p:txBody>
      </p:sp>
      <p:sp>
        <p:nvSpPr>
          <p:cNvPr id="20" name="Text 18"/>
          <p:cNvSpPr/>
          <p:nvPr/>
        </p:nvSpPr>
        <p:spPr>
          <a:xfrm>
            <a:off x="4846320" y="4443984"/>
            <a:ext cx="2432304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D7DCE5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把基层执行从经验驱动，变成有任务、有节奏、有复评的持续流程。</a:t>
            </a:r>
            <a:endParaRPr lang="en-US" sz="960" dirty="0"/>
          </a:p>
        </p:txBody>
      </p:sp>
      <p:sp>
        <p:nvSpPr>
          <p:cNvPr id="21" name="Shape 19"/>
          <p:cNvSpPr/>
          <p:nvPr/>
        </p:nvSpPr>
        <p:spPr>
          <a:xfrm>
            <a:off x="8284464" y="1298448"/>
            <a:ext cx="3328416" cy="4261104"/>
          </a:xfrm>
          <a:prstGeom prst="roundRect">
            <a:avLst>
              <a:gd name="adj" fmla="val 4396"/>
            </a:avLst>
          </a:prstGeom>
          <a:solidFill>
            <a:srgbClr val="143944"/>
          </a:solidFill>
          <a:ln w="12700">
            <a:solidFill>
              <a:srgbClr val="293241"/>
            </a:solidFill>
            <a:prstDash val="solid"/>
          </a:ln>
          <a:effectLst>
            <a:outerShdw blurRad="25400" dist="635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485632" y="1554480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9FAFB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区域平台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467344" y="1901952"/>
            <a:ext cx="2816352" cy="124358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D7DCE5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看医院网络与覆盖情况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D7DCE5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看病种负荷与起效率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D7DCE5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看三级协同与阶段改善趋势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8467344" y="3913632"/>
            <a:ext cx="2852928" cy="1280160"/>
          </a:xfrm>
          <a:prstGeom prst="roundRect">
            <a:avLst>
              <a:gd name="adj" fmla="val 11429"/>
            </a:avLst>
          </a:prstGeom>
          <a:solidFill>
            <a:srgbClr val="0D1015"/>
          </a:solidFill>
          <a:ln w="12700">
            <a:solidFill>
              <a:srgbClr val="29324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31936" y="4169664"/>
            <a:ext cx="914400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b="1" dirty="0">
                <a:solidFill>
                  <a:srgbClr val="35D0E8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落地价值</a:t>
            </a:r>
            <a:endParaRPr lang="en-US" sz="960" dirty="0"/>
          </a:p>
        </p:txBody>
      </p:sp>
      <p:sp>
        <p:nvSpPr>
          <p:cNvPr id="26" name="Text 24"/>
          <p:cNvSpPr/>
          <p:nvPr/>
        </p:nvSpPr>
        <p:spPr>
          <a:xfrm>
            <a:off x="8631936" y="4443984"/>
            <a:ext cx="2432304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D7DCE5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把区域管理从静态报表升级成动态分层、动态协同、动态督办。</a:t>
            </a:r>
            <a:endParaRPr lang="en-US" sz="960" dirty="0"/>
          </a:p>
        </p:txBody>
      </p:sp>
      <p:sp>
        <p:nvSpPr>
          <p:cNvPr id="27" name="Text 25"/>
          <p:cNvSpPr/>
          <p:nvPr/>
        </p:nvSpPr>
        <p:spPr>
          <a:xfrm>
            <a:off x="5998464" y="6473952"/>
            <a:ext cx="219456" cy="91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F9AAA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6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82912" y="182880"/>
            <a:ext cx="256032" cy="256032"/>
          </a:xfrm>
          <a:prstGeom prst="hexagon">
            <a:avLst/>
          </a:prstGeom>
          <a:solidFill>
            <a:srgbClr val="35D0E8"/>
          </a:solidFill>
          <a:ln w="12700">
            <a:solidFill>
              <a:srgbClr val="35D0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02368" y="182880"/>
            <a:ext cx="256032" cy="256032"/>
          </a:xfrm>
          <a:prstGeom prst="hexagon">
            <a:avLst/>
          </a:prstGeom>
          <a:solidFill>
            <a:srgbClr val="2F7BF6"/>
          </a:solidFill>
          <a:ln w="12700">
            <a:solidFill>
              <a:srgbClr val="2F7B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76688" y="164592"/>
            <a:ext cx="1371600" cy="1280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80" b="1" dirty="0">
                <a:solidFill>
                  <a:srgbClr val="F9FAFB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灵核AI虾客松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9985248" y="310896"/>
            <a:ext cx="1536192" cy="1097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80" dirty="0">
                <a:solidFill>
                  <a:srgbClr val="8F9AAA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LinkClaw Hackathon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548640" y="292608"/>
            <a:ext cx="58521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9FAFB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商业模式设想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48640" y="603504"/>
            <a:ext cx="76809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8F9AAA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这不是重资产平台，而是以 B2B2C 为主的医院慢病管理服务与技术输出模式。</a:t>
            </a:r>
            <a:endParaRPr lang="en-US" sz="960" dirty="0"/>
          </a:p>
        </p:txBody>
      </p:sp>
      <p:sp>
        <p:nvSpPr>
          <p:cNvPr id="8" name="Text 6"/>
          <p:cNvSpPr/>
          <p:nvPr/>
        </p:nvSpPr>
        <p:spPr>
          <a:xfrm>
            <a:off x="8412480" y="603504"/>
            <a:ext cx="301752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8F9AAA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Business model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13232" y="1261872"/>
            <a:ext cx="5486400" cy="1847088"/>
          </a:xfrm>
          <a:prstGeom prst="roundRect">
            <a:avLst>
              <a:gd name="adj" fmla="val 7921"/>
            </a:avLst>
          </a:prstGeom>
          <a:solidFill>
            <a:srgbClr val="171C24"/>
          </a:solidFill>
          <a:ln w="12700">
            <a:solidFill>
              <a:srgbClr val="293241"/>
            </a:solidFill>
            <a:prstDash val="solid"/>
          </a:ln>
          <a:effectLst>
            <a:outerShdw blurRad="25400" dist="635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50976" y="1536192"/>
            <a:ext cx="914400" cy="1280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35D0E8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核心定位</a:t>
            </a:r>
            <a:endParaRPr lang="en-US" sz="1120" dirty="0"/>
          </a:p>
        </p:txBody>
      </p:sp>
      <p:sp>
        <p:nvSpPr>
          <p:cNvPr id="11" name="Text 9"/>
          <p:cNvSpPr/>
          <p:nvPr/>
        </p:nvSpPr>
        <p:spPr>
          <a:xfrm>
            <a:off x="1828800" y="1481328"/>
            <a:ext cx="384048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F9FAFB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不做承保、不卖药，重点输出“平台 + 服务包 + 数据能力”。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932688" y="1938528"/>
            <a:ext cx="4718304" cy="9144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10" dirty="0">
                <a:solidFill>
                  <a:srgbClr val="D7DCE5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医院 / 卫健委：按患者数 / 病种 / 年度服务包采购。</a:t>
            </a:r>
            <a:endParaRPr lang="en-US" sz="1010" dirty="0"/>
          </a:p>
          <a:p>
            <a:pPr marL="152400" indent="-152400">
              <a:buSzPct val="100000"/>
              <a:buChar char="•"/>
            </a:pPr>
            <a:r>
              <a:rPr lang="en-US" sz="1010" dirty="0">
                <a:solidFill>
                  <a:srgbClr val="D7DCE5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患者：高级营养师、康复师、睡眠课程等增值服务。</a:t>
            </a:r>
            <a:endParaRPr lang="en-US" sz="1010" dirty="0"/>
          </a:p>
          <a:p>
            <a:pPr marL="152400" indent="-152400">
              <a:buSzPct val="100000"/>
              <a:buChar char="•"/>
            </a:pPr>
            <a:r>
              <a:rPr lang="en-US" sz="1010" dirty="0">
                <a:solidFill>
                  <a:srgbClr val="D7DCE5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产品方：营养品、设备、健康监测服务分成。</a:t>
            </a:r>
            <a:endParaRPr lang="en-US" sz="1010" dirty="0"/>
          </a:p>
          <a:p>
            <a:pPr marL="152400" indent="-152400">
              <a:buSzPct val="100000"/>
              <a:buChar char="•"/>
            </a:pPr>
            <a:r>
              <a:rPr lang="en-US" sz="1010" dirty="0">
                <a:solidFill>
                  <a:srgbClr val="D7DCE5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保险：管理效果达标后的服务结算与联合健康管理方案。</a:t>
            </a:r>
            <a:endParaRPr lang="en-US" sz="1010" dirty="0"/>
          </a:p>
        </p:txBody>
      </p:sp>
      <p:sp>
        <p:nvSpPr>
          <p:cNvPr id="13" name="Shape 11"/>
          <p:cNvSpPr/>
          <p:nvPr/>
        </p:nvSpPr>
        <p:spPr>
          <a:xfrm>
            <a:off x="6492240" y="1261872"/>
            <a:ext cx="2212848" cy="804672"/>
          </a:xfrm>
          <a:prstGeom prst="roundRect">
            <a:avLst>
              <a:gd name="adj" fmla="val 18182"/>
            </a:avLst>
          </a:prstGeom>
          <a:solidFill>
            <a:srgbClr val="11284B"/>
          </a:solidFill>
          <a:ln w="12700">
            <a:solidFill>
              <a:srgbClr val="293241"/>
            </a:solidFill>
            <a:prstDash val="solid"/>
          </a:ln>
          <a:effectLst>
            <a:outerShdw blurRad="25400" dist="635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656832" y="1408176"/>
            <a:ext cx="1097280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F9FAFB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收入来源 1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6656832" y="1645920"/>
            <a:ext cx="1700784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D7DCE5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医院采购 / 区域项目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8961120" y="1261872"/>
            <a:ext cx="2212848" cy="804672"/>
          </a:xfrm>
          <a:prstGeom prst="roundRect">
            <a:avLst>
              <a:gd name="adj" fmla="val 18182"/>
            </a:avLst>
          </a:prstGeom>
          <a:solidFill>
            <a:srgbClr val="143944"/>
          </a:solidFill>
          <a:ln w="12700">
            <a:solidFill>
              <a:srgbClr val="293241"/>
            </a:solidFill>
            <a:prstDash val="solid"/>
          </a:ln>
          <a:effectLst>
            <a:outerShdw blurRad="25400" dist="635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25712" y="1408176"/>
            <a:ext cx="1097280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F9FAFB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收入来源 2</a:t>
            </a:r>
            <a:endParaRPr lang="en-US" sz="980" dirty="0"/>
          </a:p>
        </p:txBody>
      </p:sp>
      <p:sp>
        <p:nvSpPr>
          <p:cNvPr id="18" name="Text 16"/>
          <p:cNvSpPr/>
          <p:nvPr/>
        </p:nvSpPr>
        <p:spPr>
          <a:xfrm>
            <a:off x="9125712" y="1645920"/>
            <a:ext cx="1700784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D7DCE5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服务包 / 会员订阅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6492240" y="2267712"/>
            <a:ext cx="2212848" cy="804672"/>
          </a:xfrm>
          <a:prstGeom prst="roundRect">
            <a:avLst>
              <a:gd name="adj" fmla="val 18182"/>
            </a:avLst>
          </a:prstGeom>
          <a:solidFill>
            <a:srgbClr val="25311F"/>
          </a:solidFill>
          <a:ln w="12700">
            <a:solidFill>
              <a:srgbClr val="293241"/>
            </a:solidFill>
            <a:prstDash val="solid"/>
          </a:ln>
          <a:effectLst>
            <a:outerShdw blurRad="25400" dist="635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656832" y="2414016"/>
            <a:ext cx="1097280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F9FAFB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收入来源 3</a:t>
            </a:r>
            <a:endParaRPr lang="en-US" sz="980" dirty="0"/>
          </a:p>
        </p:txBody>
      </p:sp>
      <p:sp>
        <p:nvSpPr>
          <p:cNvPr id="21" name="Text 19"/>
          <p:cNvSpPr/>
          <p:nvPr/>
        </p:nvSpPr>
        <p:spPr>
          <a:xfrm>
            <a:off x="6656832" y="2651760"/>
            <a:ext cx="1700784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D7DCE5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设备 / 营养品联动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8961120" y="2267712"/>
            <a:ext cx="2212848" cy="804672"/>
          </a:xfrm>
          <a:prstGeom prst="roundRect">
            <a:avLst>
              <a:gd name="adj" fmla="val 18182"/>
            </a:avLst>
          </a:prstGeom>
          <a:solidFill>
            <a:srgbClr val="3A2816"/>
          </a:solidFill>
          <a:ln w="12700">
            <a:solidFill>
              <a:srgbClr val="293241"/>
            </a:solidFill>
            <a:prstDash val="solid"/>
          </a:ln>
          <a:effectLst>
            <a:outerShdw blurRad="25400" dist="635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125712" y="2414016"/>
            <a:ext cx="1097280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F9FAFB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收入来源 4</a:t>
            </a:r>
            <a:endParaRPr lang="en-US" sz="980" dirty="0"/>
          </a:p>
        </p:txBody>
      </p:sp>
      <p:sp>
        <p:nvSpPr>
          <p:cNvPr id="24" name="Text 22"/>
          <p:cNvSpPr/>
          <p:nvPr/>
        </p:nvSpPr>
        <p:spPr>
          <a:xfrm>
            <a:off x="9125712" y="2651760"/>
            <a:ext cx="1700784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D7DCE5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保险与企业健康管理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713232" y="3419856"/>
            <a:ext cx="10735056" cy="2157984"/>
          </a:xfrm>
          <a:prstGeom prst="roundRect">
            <a:avLst>
              <a:gd name="adj" fmla="val 6780"/>
            </a:avLst>
          </a:prstGeom>
          <a:solidFill>
            <a:srgbClr val="12161D"/>
          </a:solidFill>
          <a:ln w="12700">
            <a:solidFill>
              <a:srgbClr val="293241"/>
            </a:solidFill>
            <a:prstDash val="solid"/>
          </a:ln>
          <a:effectLst>
            <a:outerShdw blurRad="25400" dist="635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50976" y="3657600"/>
            <a:ext cx="164592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9FAFB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为什么这条商业路径更现实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14400" y="3968496"/>
            <a:ext cx="4572000" cy="1225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10" dirty="0">
                <a:solidFill>
                  <a:srgbClr val="D7DCE5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中国医院和区域平台更容易接受“服务+平台”采购，而不是直接放开诊疗替代。</a:t>
            </a:r>
            <a:endParaRPr lang="en-US" sz="1010" dirty="0"/>
          </a:p>
          <a:p>
            <a:pPr marL="152400" indent="-152400">
              <a:buSzPct val="100000"/>
              <a:buChar char="•"/>
            </a:pPr>
            <a:r>
              <a:rPr lang="en-US" sz="1010" dirty="0">
                <a:solidFill>
                  <a:srgbClr val="D7DCE5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慢病管理本身天然适合按病种、按患者、按周期采购。</a:t>
            </a:r>
            <a:endParaRPr lang="en-US" sz="1010" dirty="0"/>
          </a:p>
          <a:p>
            <a:pPr marL="152400" indent="-152400">
              <a:buSzPct val="100000"/>
              <a:buChar char="•"/>
            </a:pPr>
            <a:r>
              <a:rPr lang="en-US" sz="1010" dirty="0">
                <a:solidFill>
                  <a:srgbClr val="D7DCE5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行为干预包、设备与健康产品可作为后续增值能力接入。</a:t>
            </a:r>
            <a:endParaRPr lang="en-US" sz="1010" dirty="0"/>
          </a:p>
          <a:p>
            <a:pPr marL="152400" indent="-152400">
              <a:buSzPct val="100000"/>
              <a:buChar char="•"/>
            </a:pPr>
            <a:r>
              <a:rPr lang="en-US" sz="1010" dirty="0">
                <a:solidFill>
                  <a:srgbClr val="D7DCE5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平台型价值越强，越容易向区域项目和保险合作扩展。</a:t>
            </a:r>
            <a:endParaRPr lang="en-US" sz="1010" dirty="0"/>
          </a:p>
        </p:txBody>
      </p:sp>
      <p:sp>
        <p:nvSpPr>
          <p:cNvPr id="28" name="Shape 26"/>
          <p:cNvSpPr/>
          <p:nvPr/>
        </p:nvSpPr>
        <p:spPr>
          <a:xfrm>
            <a:off x="6400800" y="3858768"/>
            <a:ext cx="4517136" cy="1335024"/>
          </a:xfrm>
          <a:prstGeom prst="roundRect">
            <a:avLst>
              <a:gd name="adj" fmla="val 10959"/>
            </a:avLst>
          </a:prstGeom>
          <a:solidFill>
            <a:srgbClr val="11284B"/>
          </a:solidFill>
          <a:ln w="12700">
            <a:solidFill>
              <a:srgbClr val="2F7BF6"/>
            </a:solidFill>
            <a:prstDash val="solid"/>
          </a:ln>
          <a:effectLst>
            <a:outerShdw blurRad="25400" dist="635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656832" y="4114800"/>
            <a:ext cx="1097280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F9FAFB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商业化关键前提</a:t>
            </a:r>
            <a:endParaRPr lang="en-US" sz="980" dirty="0"/>
          </a:p>
        </p:txBody>
      </p:sp>
      <p:sp>
        <p:nvSpPr>
          <p:cNvPr id="30" name="Text 28"/>
          <p:cNvSpPr/>
          <p:nvPr/>
        </p:nvSpPr>
        <p:spPr>
          <a:xfrm>
            <a:off x="6656832" y="4389120"/>
            <a:ext cx="374904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D7DCE5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先跑通医院试点 → 建立效果档案 → 形成标准化服务包 → 才能复制到更多医院和区域平台。</a:t>
            </a:r>
            <a:endParaRPr lang="en-US" sz="980" dirty="0"/>
          </a:p>
        </p:txBody>
      </p:sp>
      <p:sp>
        <p:nvSpPr>
          <p:cNvPr id="31" name="Text 29"/>
          <p:cNvSpPr/>
          <p:nvPr/>
        </p:nvSpPr>
        <p:spPr>
          <a:xfrm>
            <a:off x="5998464" y="6473952"/>
            <a:ext cx="219456" cy="91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F9AAA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6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82912" y="182880"/>
            <a:ext cx="256032" cy="256032"/>
          </a:xfrm>
          <a:prstGeom prst="hexagon">
            <a:avLst/>
          </a:prstGeom>
          <a:solidFill>
            <a:srgbClr val="35D0E8"/>
          </a:solidFill>
          <a:ln w="12700">
            <a:solidFill>
              <a:srgbClr val="35D0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02368" y="182880"/>
            <a:ext cx="256032" cy="256032"/>
          </a:xfrm>
          <a:prstGeom prst="hexagon">
            <a:avLst/>
          </a:prstGeom>
          <a:solidFill>
            <a:srgbClr val="2F7BF6"/>
          </a:solidFill>
          <a:ln w="12700">
            <a:solidFill>
              <a:srgbClr val="2F7B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76688" y="164592"/>
            <a:ext cx="1371600" cy="1280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80" b="1" dirty="0">
                <a:solidFill>
                  <a:srgbClr val="F9FAFB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灵核AI虾客松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9985248" y="310896"/>
            <a:ext cx="1536192" cy="1097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80" dirty="0">
                <a:solidFill>
                  <a:srgbClr val="8F9AAA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LinkClaw Hackathon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548640" y="292608"/>
            <a:ext cx="58521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9FAFB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创新点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48640" y="603504"/>
            <a:ext cx="76809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8F9AAA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评委要看的不是“会不会 AI”，而是“为什么这套 AI 适合医疗长期管理场景”。</a:t>
            </a:r>
            <a:endParaRPr lang="en-US" sz="960" dirty="0"/>
          </a:p>
        </p:txBody>
      </p:sp>
      <p:sp>
        <p:nvSpPr>
          <p:cNvPr id="8" name="Text 6"/>
          <p:cNvSpPr/>
          <p:nvPr/>
        </p:nvSpPr>
        <p:spPr>
          <a:xfrm>
            <a:off x="8412480" y="603504"/>
            <a:ext cx="301752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8F9AAA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Innovation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13232" y="1316736"/>
            <a:ext cx="3291840" cy="1078992"/>
          </a:xfrm>
          <a:prstGeom prst="roundRect">
            <a:avLst>
              <a:gd name="adj" fmla="val 13559"/>
            </a:avLst>
          </a:prstGeom>
          <a:solidFill>
            <a:srgbClr val="171C24"/>
          </a:solidFill>
          <a:ln w="12700">
            <a:solidFill>
              <a:srgbClr val="293241"/>
            </a:solidFill>
            <a:prstDash val="solid"/>
          </a:ln>
          <a:effectLst>
            <a:outerShdw blurRad="25400" dist="635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77824" y="1463040"/>
            <a:ext cx="2377440" cy="1280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b="1" dirty="0">
                <a:solidFill>
                  <a:srgbClr val="F9FAFB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多智能体协同</a:t>
            </a:r>
            <a:endParaRPr lang="en-US" sz="1140" dirty="0"/>
          </a:p>
        </p:txBody>
      </p:sp>
      <p:sp>
        <p:nvSpPr>
          <p:cNvPr id="11" name="Text 9"/>
          <p:cNvSpPr/>
          <p:nvPr/>
        </p:nvSpPr>
        <p:spPr>
          <a:xfrm>
            <a:off x="877824" y="1719072"/>
            <a:ext cx="2743200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D7DCE5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饮食、运动、睡眠、专病与 MDT 不是各自独立，而是在一条执行链内组合。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443984" y="1316736"/>
            <a:ext cx="3291840" cy="1078992"/>
          </a:xfrm>
          <a:prstGeom prst="roundRect">
            <a:avLst>
              <a:gd name="adj" fmla="val 13559"/>
            </a:avLst>
          </a:prstGeom>
          <a:solidFill>
            <a:srgbClr val="12161D"/>
          </a:solidFill>
          <a:ln w="12700">
            <a:solidFill>
              <a:srgbClr val="293241"/>
            </a:solidFill>
            <a:prstDash val="solid"/>
          </a:ln>
          <a:effectLst>
            <a:outerShdw blurRad="25400" dist="635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08576" y="1463040"/>
            <a:ext cx="2377440" cy="1280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b="1" dirty="0">
                <a:solidFill>
                  <a:srgbClr val="F9FAFB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KG-Followup</a:t>
            </a:r>
            <a:endParaRPr lang="en-US" sz="1140" dirty="0"/>
          </a:p>
        </p:txBody>
      </p:sp>
      <p:sp>
        <p:nvSpPr>
          <p:cNvPr id="14" name="Text 12"/>
          <p:cNvSpPr/>
          <p:nvPr/>
        </p:nvSpPr>
        <p:spPr>
          <a:xfrm>
            <a:off x="4608576" y="1719072"/>
            <a:ext cx="2743200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D7DCE5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利用知识图谱增强精准追问，补足病史与随访信息缺口。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174736" y="1316736"/>
            <a:ext cx="3291840" cy="1078992"/>
          </a:xfrm>
          <a:prstGeom prst="roundRect">
            <a:avLst>
              <a:gd name="adj" fmla="val 13559"/>
            </a:avLst>
          </a:prstGeom>
          <a:solidFill>
            <a:srgbClr val="171C24"/>
          </a:solidFill>
          <a:ln w="12700">
            <a:solidFill>
              <a:srgbClr val="293241"/>
            </a:solidFill>
            <a:prstDash val="solid"/>
          </a:ln>
          <a:effectLst>
            <a:outerShdw blurRad="25400" dist="635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339328" y="1463040"/>
            <a:ext cx="2377440" cy="1280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b="1" dirty="0">
                <a:solidFill>
                  <a:srgbClr val="F9FAFB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标准化医疗接入</a:t>
            </a:r>
            <a:endParaRPr lang="en-US" sz="1140" dirty="0"/>
          </a:p>
        </p:txBody>
      </p:sp>
      <p:sp>
        <p:nvSpPr>
          <p:cNvPr id="17" name="Text 15"/>
          <p:cNvSpPr/>
          <p:nvPr/>
        </p:nvSpPr>
        <p:spPr>
          <a:xfrm>
            <a:off x="8339328" y="1719072"/>
            <a:ext cx="2743200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D7DCE5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FHIR / SMART on FHIR、HealthChain、healthkit-on-fhir 形成真实接入链。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13232" y="2761488"/>
            <a:ext cx="3291840" cy="1078992"/>
          </a:xfrm>
          <a:prstGeom prst="roundRect">
            <a:avLst>
              <a:gd name="adj" fmla="val 13559"/>
            </a:avLst>
          </a:prstGeom>
          <a:solidFill>
            <a:srgbClr val="12161D"/>
          </a:solidFill>
          <a:ln w="12700">
            <a:solidFill>
              <a:srgbClr val="293241"/>
            </a:solidFill>
            <a:prstDash val="solid"/>
          </a:ln>
          <a:effectLst>
            <a:outerShdw blurRad="25400" dist="635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77824" y="2907792"/>
            <a:ext cx="2377440" cy="1280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b="1" dirty="0">
                <a:solidFill>
                  <a:srgbClr val="F9FAFB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预测与解释并存</a:t>
            </a:r>
            <a:endParaRPr lang="en-US" sz="1140" dirty="0"/>
          </a:p>
        </p:txBody>
      </p:sp>
      <p:sp>
        <p:nvSpPr>
          <p:cNvPr id="20" name="Text 18"/>
          <p:cNvSpPr/>
          <p:nvPr/>
        </p:nvSpPr>
        <p:spPr>
          <a:xfrm>
            <a:off x="877824" y="3163824"/>
            <a:ext cx="2743200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D7DCE5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TemporAI / PyHealth / 文本疾病预测同时输出结论、证据链和时间轴。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443984" y="2761488"/>
            <a:ext cx="3291840" cy="1078992"/>
          </a:xfrm>
          <a:prstGeom prst="roundRect">
            <a:avLst>
              <a:gd name="adj" fmla="val 13559"/>
            </a:avLst>
          </a:prstGeom>
          <a:solidFill>
            <a:srgbClr val="171C24"/>
          </a:solidFill>
          <a:ln w="12700">
            <a:solidFill>
              <a:srgbClr val="293241"/>
            </a:solidFill>
            <a:prstDash val="solid"/>
          </a:ln>
          <a:effectLst>
            <a:outerShdw blurRad="25400" dist="635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608576" y="2907792"/>
            <a:ext cx="2377440" cy="1280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b="1" dirty="0">
                <a:solidFill>
                  <a:srgbClr val="F9FAFB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阶段性可视化改善</a:t>
            </a:r>
            <a:endParaRPr lang="en-US" sz="1140" dirty="0"/>
          </a:p>
        </p:txBody>
      </p:sp>
      <p:sp>
        <p:nvSpPr>
          <p:cNvPr id="23" name="Text 21"/>
          <p:cNvSpPr/>
          <p:nvPr/>
        </p:nvSpPr>
        <p:spPr>
          <a:xfrm>
            <a:off x="4608576" y="3163824"/>
            <a:ext cx="2743200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D7DCE5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不是只给结果，而是看 4 / 8 / 12 周阶段变化。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174736" y="2761488"/>
            <a:ext cx="3291840" cy="1078992"/>
          </a:xfrm>
          <a:prstGeom prst="roundRect">
            <a:avLst>
              <a:gd name="adj" fmla="val 13559"/>
            </a:avLst>
          </a:prstGeom>
          <a:solidFill>
            <a:srgbClr val="12161D"/>
          </a:solidFill>
          <a:ln w="12700">
            <a:solidFill>
              <a:srgbClr val="293241"/>
            </a:solidFill>
            <a:prstDash val="solid"/>
          </a:ln>
          <a:effectLst>
            <a:outerShdw blurRad="25400" dist="635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339328" y="2907792"/>
            <a:ext cx="2377440" cy="1280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b="1" dirty="0">
                <a:solidFill>
                  <a:srgbClr val="F9FAFB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三区视图一体化</a:t>
            </a:r>
            <a:endParaRPr lang="en-US" sz="1140" dirty="0"/>
          </a:p>
        </p:txBody>
      </p:sp>
      <p:sp>
        <p:nvSpPr>
          <p:cNvPr id="26" name="Text 24"/>
          <p:cNvSpPr/>
          <p:nvPr/>
        </p:nvSpPr>
        <p:spPr>
          <a:xfrm>
            <a:off x="8339328" y="3163824"/>
            <a:ext cx="2743200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D7DCE5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区级、医院、医生三层工作台共用同一慢病管理底座。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13232" y="4462272"/>
            <a:ext cx="10789920" cy="1152144"/>
          </a:xfrm>
          <a:prstGeom prst="roundRect">
            <a:avLst>
              <a:gd name="adj" fmla="val 12698"/>
            </a:avLst>
          </a:prstGeom>
          <a:solidFill>
            <a:srgbClr val="143944"/>
          </a:solidFill>
          <a:ln w="12700">
            <a:solidFill>
              <a:srgbClr val="35D0E8"/>
            </a:solidFill>
            <a:prstDash val="solid"/>
          </a:ln>
          <a:effectLst>
            <a:outerShdw blurRad="25400" dist="635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50976" y="4736592"/>
            <a:ext cx="1188720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F9FAFB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一句话总结创新性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267712" y="4681728"/>
            <a:ext cx="8558784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D7DCE5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我们不是把 AI 塞进医院，而是把医院真实的长期管理流程重构成一套由智能体、规则和标准化数据共同驱动的系统。</a:t>
            </a:r>
            <a:endParaRPr lang="en-US" sz="1020" dirty="0"/>
          </a:p>
        </p:txBody>
      </p:sp>
      <p:sp>
        <p:nvSpPr>
          <p:cNvPr id="30" name="Text 28"/>
          <p:cNvSpPr/>
          <p:nvPr/>
        </p:nvSpPr>
        <p:spPr>
          <a:xfrm>
            <a:off x="5998464" y="6473952"/>
            <a:ext cx="219456" cy="91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F9AAA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6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82912" y="182880"/>
            <a:ext cx="256032" cy="256032"/>
          </a:xfrm>
          <a:prstGeom prst="hexagon">
            <a:avLst/>
          </a:prstGeom>
          <a:solidFill>
            <a:srgbClr val="35D0E8"/>
          </a:solidFill>
          <a:ln w="12700">
            <a:solidFill>
              <a:srgbClr val="35D0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02368" y="182880"/>
            <a:ext cx="256032" cy="256032"/>
          </a:xfrm>
          <a:prstGeom prst="hexagon">
            <a:avLst/>
          </a:prstGeom>
          <a:solidFill>
            <a:srgbClr val="2F7BF6"/>
          </a:solidFill>
          <a:ln w="12700">
            <a:solidFill>
              <a:srgbClr val="2F7B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76688" y="164592"/>
            <a:ext cx="1371600" cy="1280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80" b="1" dirty="0">
                <a:solidFill>
                  <a:srgbClr val="F9FAFB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灵核AI虾客松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9985248" y="310896"/>
            <a:ext cx="1536192" cy="1097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80" dirty="0">
                <a:solidFill>
                  <a:srgbClr val="8F9AAA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LinkClaw Hackathon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548640" y="292608"/>
            <a:ext cx="58521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9FAFB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当前进展与下一步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48640" y="603504"/>
            <a:ext cx="76809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8F9AAA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当前已实现能力与未来扩展能力，需要在同一页说清楚。</a:t>
            </a:r>
            <a:endParaRPr lang="en-US" sz="960" dirty="0"/>
          </a:p>
        </p:txBody>
      </p:sp>
      <p:sp>
        <p:nvSpPr>
          <p:cNvPr id="8" name="Text 6"/>
          <p:cNvSpPr/>
          <p:nvPr/>
        </p:nvSpPr>
        <p:spPr>
          <a:xfrm>
            <a:off x="8412480" y="603504"/>
            <a:ext cx="301752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8F9AAA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Roadmap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13232" y="1280160"/>
            <a:ext cx="3493008" cy="4498848"/>
          </a:xfrm>
          <a:prstGeom prst="roundRect">
            <a:avLst>
              <a:gd name="adj" fmla="val 4188"/>
            </a:avLst>
          </a:prstGeom>
          <a:solidFill>
            <a:srgbClr val="171C24"/>
          </a:solidFill>
          <a:ln w="12700">
            <a:solidFill>
              <a:srgbClr val="293241"/>
            </a:solidFill>
            <a:prstDash val="solid"/>
          </a:ln>
          <a:effectLst>
            <a:outerShdw blurRad="25400" dist="635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69264" y="1572768"/>
            <a:ext cx="109728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F9FAFB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当前已实现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932688" y="1920240"/>
            <a:ext cx="2816352" cy="332841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00" dirty="0">
                <a:solidFill>
                  <a:srgbClr val="D7DCE5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七大慢病风险域分层</a:t>
            </a:r>
            <a:endParaRPr lang="en-US" sz="1000" dirty="0"/>
          </a:p>
          <a:p>
            <a:pPr marL="152400" indent="-152400">
              <a:buSzPct val="100000"/>
              <a:buChar char="•"/>
            </a:pPr>
            <a:r>
              <a:rPr lang="en-US" sz="1000" dirty="0">
                <a:solidFill>
                  <a:srgbClr val="D7DCE5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饮食 / 运动 / 睡眠 / 生活方式疗法包</a:t>
            </a:r>
            <a:endParaRPr lang="en-US" sz="1000" dirty="0"/>
          </a:p>
          <a:p>
            <a:pPr marL="152400" indent="-152400">
              <a:buSzPct val="100000"/>
              <a:buChar char="•"/>
            </a:pPr>
            <a:r>
              <a:rPr lang="en-US" sz="1000" dirty="0">
                <a:solidFill>
                  <a:srgbClr val="D7DCE5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MDT 在线讨论、纪要、修订版 care plan</a:t>
            </a:r>
            <a:endParaRPr lang="en-US" sz="1000" dirty="0"/>
          </a:p>
          <a:p>
            <a:pPr marL="152400" indent="-152400">
              <a:buSzPct val="100000"/>
              <a:buChar char="•"/>
            </a:pPr>
            <a:r>
              <a:rPr lang="en-US" sz="1000" dirty="0">
                <a:solidFill>
                  <a:srgbClr val="D7DCE5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区级总览 / 医院管理视图 / 医生工作台</a:t>
            </a:r>
            <a:endParaRPr lang="en-US" sz="1000" dirty="0"/>
          </a:p>
          <a:p>
            <a:pPr marL="152400" indent="-152400">
              <a:buSzPct val="100000"/>
              <a:buChar char="•"/>
            </a:pPr>
            <a:r>
              <a:rPr lang="en-US" sz="1000" dirty="0">
                <a:solidFill>
                  <a:srgbClr val="D7DCE5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栖霞区 15 家机构网络演示</a:t>
            </a:r>
            <a:endParaRPr lang="en-US" sz="1000" dirty="0"/>
          </a:p>
          <a:p>
            <a:pPr marL="152400" indent="-152400">
              <a:buSzPct val="100000"/>
              <a:buChar char="•"/>
            </a:pPr>
            <a:r>
              <a:rPr lang="en-US" sz="1000" dirty="0">
                <a:solidFill>
                  <a:srgbClr val="D7DCE5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100 人仿真、风险雷达、4/8/12 周改善</a:t>
            </a:r>
            <a:endParaRPr lang="en-US" sz="1000" dirty="0"/>
          </a:p>
          <a:p>
            <a:pPr marL="152400" indent="-152400">
              <a:buSzPct val="100000"/>
              <a:buChar char="•"/>
            </a:pPr>
            <a:r>
              <a:rPr lang="en-US" sz="1000" dirty="0">
                <a:solidFill>
                  <a:srgbClr val="D7DCE5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FHIR / SMART on FHIR 模拟授权链</a:t>
            </a:r>
            <a:endParaRPr lang="en-US" sz="1000" dirty="0"/>
          </a:p>
          <a:p>
            <a:pPr marL="152400" indent="-152400">
              <a:buSzPct val="100000"/>
              <a:buChar char="•"/>
            </a:pPr>
            <a:r>
              <a:rPr lang="en-US" sz="1000" dirty="0">
                <a:solidFill>
                  <a:srgbClr val="D7DCE5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TemporAI / PyHealth 预测微服务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425696" y="1280160"/>
            <a:ext cx="3493008" cy="4498848"/>
          </a:xfrm>
          <a:prstGeom prst="roundRect">
            <a:avLst>
              <a:gd name="adj" fmla="val 4188"/>
            </a:avLst>
          </a:prstGeom>
          <a:solidFill>
            <a:srgbClr val="12161D"/>
          </a:solidFill>
          <a:ln w="12700">
            <a:solidFill>
              <a:srgbClr val="293241"/>
            </a:solidFill>
            <a:prstDash val="solid"/>
          </a:ln>
          <a:effectLst>
            <a:outerShdw blurRad="25400" dist="635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81728" y="1572768"/>
            <a:ext cx="91440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F9FAFB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3-6 个月</a:t>
            </a:r>
            <a:endParaRPr lang="en-US" sz="1320" dirty="0"/>
          </a:p>
        </p:txBody>
      </p:sp>
      <p:sp>
        <p:nvSpPr>
          <p:cNvPr id="14" name="Text 12"/>
          <p:cNvSpPr/>
          <p:nvPr/>
        </p:nvSpPr>
        <p:spPr>
          <a:xfrm>
            <a:off x="4645152" y="1920240"/>
            <a:ext cx="2761488" cy="16276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00" dirty="0">
                <a:solidFill>
                  <a:srgbClr val="D7DCE5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对接 1-2 家试点医院的真实字段和接口</a:t>
            </a:r>
            <a:endParaRPr lang="en-US" sz="1000" dirty="0"/>
          </a:p>
          <a:p>
            <a:pPr marL="152400" indent="-152400">
              <a:buSzPct val="100000"/>
              <a:buChar char="•"/>
            </a:pPr>
            <a:r>
              <a:rPr lang="en-US" sz="1000" dirty="0">
                <a:solidFill>
                  <a:srgbClr val="D7DCE5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补入真实患者随访档案与权限模型</a:t>
            </a:r>
            <a:endParaRPr lang="en-US" sz="1000" dirty="0"/>
          </a:p>
          <a:p>
            <a:pPr marL="152400" indent="-152400">
              <a:buSzPct val="100000"/>
              <a:buChar char="•"/>
            </a:pPr>
            <a:r>
              <a:rPr lang="en-US" sz="1000" dirty="0">
                <a:solidFill>
                  <a:srgbClr val="D7DCE5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固化糖尿病 / 高血压 / 心脏康复专病包</a:t>
            </a:r>
            <a:endParaRPr lang="en-US" sz="1000" dirty="0"/>
          </a:p>
          <a:p>
            <a:pPr marL="152400" indent="-152400">
              <a:buSzPct val="100000"/>
              <a:buChar char="•"/>
            </a:pPr>
            <a:r>
              <a:rPr lang="en-US" sz="1000" dirty="0">
                <a:solidFill>
                  <a:srgbClr val="D7DCE5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形成医院采购版服务包和管理报表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81728" y="3968496"/>
            <a:ext cx="91440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35D0E8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6-12 个月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4645152" y="4315968"/>
            <a:ext cx="2761488" cy="124358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00" dirty="0">
                <a:solidFill>
                  <a:srgbClr val="D7DCE5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扩到更多专病智能体</a:t>
            </a:r>
            <a:endParaRPr lang="en-US" sz="1000" dirty="0"/>
          </a:p>
          <a:p>
            <a:pPr marL="152400" indent="-152400">
              <a:buSzPct val="100000"/>
              <a:buChar char="•"/>
            </a:pPr>
            <a:r>
              <a:rPr lang="en-US" sz="1000" dirty="0">
                <a:solidFill>
                  <a:srgbClr val="D7DCE5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接入区域卫生慢病项目</a:t>
            </a:r>
            <a:endParaRPr lang="en-US" sz="1000" dirty="0"/>
          </a:p>
          <a:p>
            <a:pPr marL="152400" indent="-152400">
              <a:buSzPct val="100000"/>
              <a:buChar char="•"/>
            </a:pPr>
            <a:r>
              <a:rPr lang="en-US" sz="1000" dirty="0">
                <a:solidFill>
                  <a:srgbClr val="D7DCE5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推进合规认证与软著 / 专利申请</a:t>
            </a:r>
            <a:endParaRPr lang="en-US" sz="1000" dirty="0"/>
          </a:p>
          <a:p>
            <a:pPr marL="152400" indent="-152400">
              <a:buSzPct val="100000"/>
              <a:buChar char="•"/>
            </a:pPr>
            <a:r>
              <a:rPr lang="en-US" sz="1000" dirty="0">
                <a:solidFill>
                  <a:srgbClr val="D7DCE5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形成可复制的医院部署版本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138160" y="1280160"/>
            <a:ext cx="3328416" cy="4498848"/>
          </a:xfrm>
          <a:prstGeom prst="roundRect">
            <a:avLst>
              <a:gd name="adj" fmla="val 4396"/>
            </a:avLst>
          </a:prstGeom>
          <a:solidFill>
            <a:srgbClr val="11284B"/>
          </a:solidFill>
          <a:ln w="12700">
            <a:solidFill>
              <a:srgbClr val="2F7BF6"/>
            </a:solidFill>
            <a:prstDash val="solid"/>
          </a:ln>
          <a:effectLst>
            <a:outerShdw blurRad="25400" dist="635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394192" y="1572768"/>
            <a:ext cx="1078992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40" b="1" dirty="0">
                <a:solidFill>
                  <a:srgbClr val="F9FAFB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为什么这页重要</a:t>
            </a:r>
            <a:endParaRPr lang="en-US" sz="1240" dirty="0"/>
          </a:p>
        </p:txBody>
      </p:sp>
      <p:sp>
        <p:nvSpPr>
          <p:cNvPr id="19" name="Text 17"/>
          <p:cNvSpPr/>
          <p:nvPr/>
        </p:nvSpPr>
        <p:spPr>
          <a:xfrm>
            <a:off x="8394192" y="1901952"/>
            <a:ext cx="2688336" cy="5852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D7DCE5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评委既要看到完成度，也要看到未来边界。当前已实现证明我们不是 PPT 项目，下一步规划证明我们具备持续落地潜力。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394192" y="2871216"/>
            <a:ext cx="2706624" cy="2194560"/>
          </a:xfrm>
          <a:prstGeom prst="roundRect">
            <a:avLst>
              <a:gd name="adj" fmla="val 6667"/>
            </a:avLst>
          </a:prstGeom>
          <a:solidFill>
            <a:srgbClr val="171C24"/>
          </a:solidFill>
          <a:ln w="12700">
            <a:solidFill>
              <a:srgbClr val="293241"/>
            </a:solidFill>
            <a:prstDash val="solid"/>
          </a:ln>
          <a:effectLst>
            <a:outerShdw blurRad="25400" dist="635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1" name="Image 0" descr="/Users/linzhang/Desktop/      OPC/健康管理/demo-ppt/assets/patient-entry-feishu.png"/>
          <p:cNvPicPr>
            <a:picLocks noChangeAspect="1"/>
          </p:cNvPicPr>
          <p:nvPr/>
        </p:nvPicPr>
        <p:blipFill>
          <a:blip r:embed="rId1"/>
          <a:srcRect l="14967" r="14967"/>
          <a:stretch>
            <a:fillRect/>
          </a:stretch>
        </p:blipFill>
        <p:spPr>
          <a:xfrm>
            <a:off x="8449056" y="2926080"/>
            <a:ext cx="2596896" cy="2084832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5998464" y="6473952"/>
            <a:ext cx="219456" cy="91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F9AAA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6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82912" y="182880"/>
            <a:ext cx="256032" cy="256032"/>
          </a:xfrm>
          <a:prstGeom prst="hexagon">
            <a:avLst/>
          </a:prstGeom>
          <a:solidFill>
            <a:srgbClr val="35D0E8"/>
          </a:solidFill>
          <a:ln w="12700">
            <a:solidFill>
              <a:srgbClr val="35D0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02368" y="182880"/>
            <a:ext cx="256032" cy="256032"/>
          </a:xfrm>
          <a:prstGeom prst="hexagon">
            <a:avLst/>
          </a:prstGeom>
          <a:solidFill>
            <a:srgbClr val="2F7BF6"/>
          </a:solidFill>
          <a:ln w="12700">
            <a:solidFill>
              <a:srgbClr val="2F7B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76688" y="164592"/>
            <a:ext cx="1371600" cy="1280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80" b="1" dirty="0">
                <a:solidFill>
                  <a:srgbClr val="F9FAFB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灵核AI虾客松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9985248" y="310896"/>
            <a:ext cx="1536192" cy="1097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80" dirty="0">
                <a:solidFill>
                  <a:srgbClr val="8F9AAA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LinkClaw Hackathon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548640" y="292608"/>
            <a:ext cx="58521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9FAFB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总结 + Call to Action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48640" y="603504"/>
            <a:ext cx="76809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8F9AAA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最后一页不要重复功能，要收束成“为什么这个项目值得被看见和继续推进”。</a:t>
            </a:r>
            <a:endParaRPr lang="en-US" sz="960" dirty="0"/>
          </a:p>
        </p:txBody>
      </p:sp>
      <p:sp>
        <p:nvSpPr>
          <p:cNvPr id="8" name="Text 6"/>
          <p:cNvSpPr/>
          <p:nvPr/>
        </p:nvSpPr>
        <p:spPr>
          <a:xfrm>
            <a:off x="8412480" y="603504"/>
            <a:ext cx="301752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8F9AAA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Summary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13232" y="1335024"/>
            <a:ext cx="109728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35D0E8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一句话收束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13232" y="1609344"/>
            <a:ext cx="7242048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F9FAFB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我们做的不是“会回答”的医疗 AI，而是一套能让医院真正开展慢病长期管理的执行平台。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713232" y="2395728"/>
            <a:ext cx="3694176" cy="1042416"/>
          </a:xfrm>
          <a:prstGeom prst="roundRect">
            <a:avLst>
              <a:gd name="adj" fmla="val 14035"/>
            </a:avLst>
          </a:prstGeom>
          <a:solidFill>
            <a:srgbClr val="171C24"/>
          </a:solidFill>
          <a:ln w="12700">
            <a:solidFill>
              <a:srgbClr val="293241"/>
            </a:solidFill>
            <a:prstDash val="solid"/>
          </a:ln>
          <a:effectLst>
            <a:outerShdw blurRad="25400" dist="635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08576" y="2395728"/>
            <a:ext cx="3694176" cy="1042416"/>
          </a:xfrm>
          <a:prstGeom prst="roundRect">
            <a:avLst>
              <a:gd name="adj" fmla="val 14035"/>
            </a:avLst>
          </a:prstGeom>
          <a:solidFill>
            <a:srgbClr val="171C24"/>
          </a:solidFill>
          <a:ln w="12700">
            <a:solidFill>
              <a:srgbClr val="293241"/>
            </a:solidFill>
            <a:prstDash val="solid"/>
          </a:ln>
          <a:effectLst>
            <a:outerShdw blurRad="25400" dist="635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503920" y="2395728"/>
            <a:ext cx="2962656" cy="1042416"/>
          </a:xfrm>
          <a:prstGeom prst="roundRect">
            <a:avLst>
              <a:gd name="adj" fmla="val 14035"/>
            </a:avLst>
          </a:prstGeom>
          <a:solidFill>
            <a:srgbClr val="171C24"/>
          </a:solidFill>
          <a:ln w="12700">
            <a:solidFill>
              <a:srgbClr val="293241"/>
            </a:solidFill>
            <a:prstDash val="solid"/>
          </a:ln>
          <a:effectLst>
            <a:outerShdw blurRad="25400" dist="635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32688" y="2633472"/>
            <a:ext cx="822960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F9FAFB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已经证明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32688" y="2889504"/>
            <a:ext cx="3072384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D7DCE5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我们有可演示系统、有真实工作台、有阶段改善与证据链。</a:t>
            </a:r>
            <a:endParaRPr lang="en-US" sz="980" dirty="0"/>
          </a:p>
        </p:txBody>
      </p:sp>
      <p:sp>
        <p:nvSpPr>
          <p:cNvPr id="16" name="Text 14"/>
          <p:cNvSpPr/>
          <p:nvPr/>
        </p:nvSpPr>
        <p:spPr>
          <a:xfrm>
            <a:off x="4828032" y="2633472"/>
            <a:ext cx="822960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F9FAFB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最强价值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28032" y="2889504"/>
            <a:ext cx="3072384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D7DCE5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让风险分层、行为干预和 MDT 协同第一次被整合进一套医院级产品里。</a:t>
            </a:r>
            <a:endParaRPr lang="en-US" sz="980" dirty="0"/>
          </a:p>
        </p:txBody>
      </p:sp>
      <p:sp>
        <p:nvSpPr>
          <p:cNvPr id="18" name="Text 16"/>
          <p:cNvSpPr/>
          <p:nvPr/>
        </p:nvSpPr>
        <p:spPr>
          <a:xfrm>
            <a:off x="8723376" y="2633472"/>
            <a:ext cx="731520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F9FAFB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下一步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723376" y="2889504"/>
            <a:ext cx="2249424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D7DCE5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试点医院 + 服务包 + 数据闭环。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713232" y="3822192"/>
            <a:ext cx="3401568" cy="1828800"/>
          </a:xfrm>
          <a:prstGeom prst="roundRect">
            <a:avLst>
              <a:gd name="adj" fmla="val 8000"/>
            </a:avLst>
          </a:prstGeom>
          <a:solidFill>
            <a:srgbClr val="171C24"/>
          </a:solidFill>
          <a:ln w="12700">
            <a:solidFill>
              <a:srgbClr val="293241"/>
            </a:solidFill>
            <a:prstDash val="solid"/>
          </a:ln>
          <a:effectLst>
            <a:outerShdw blurRad="25400" dist="635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1" name="Image 0" descr="/Users/linzhang/Desktop/      OPC/健康管理/demo-ppt/assets/hero-intr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4495380"/>
            <a:ext cx="3291840" cy="482425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4389120" y="3822192"/>
            <a:ext cx="3401568" cy="1828800"/>
          </a:xfrm>
          <a:prstGeom prst="roundRect">
            <a:avLst>
              <a:gd name="adj" fmla="val 8000"/>
            </a:avLst>
          </a:prstGeom>
          <a:solidFill>
            <a:srgbClr val="171C24"/>
          </a:solidFill>
          <a:ln w="12700">
            <a:solidFill>
              <a:srgbClr val="293241"/>
            </a:solidFill>
            <a:prstDash val="solid"/>
          </a:ln>
          <a:effectLst>
            <a:outerShdw blurRad="25400" dist="635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3" name="Image 1" descr="/Users/linzhang/Desktop/      OPC/健康管理/demo-ppt/assets/dashboard-role-load.png"/>
          <p:cNvPicPr>
            <a:picLocks noChangeAspect="1"/>
          </p:cNvPicPr>
          <p:nvPr/>
        </p:nvPicPr>
        <p:blipFill>
          <a:blip r:embed="rId2"/>
          <a:srcRect t="12091" b="12092"/>
          <a:stretch>
            <a:fillRect/>
          </a:stretch>
        </p:blipFill>
        <p:spPr>
          <a:xfrm>
            <a:off x="4443984" y="3877056"/>
            <a:ext cx="3291840" cy="1719072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8065008" y="3822192"/>
            <a:ext cx="3401568" cy="1828800"/>
          </a:xfrm>
          <a:prstGeom prst="roundRect">
            <a:avLst>
              <a:gd name="adj" fmla="val 8000"/>
            </a:avLst>
          </a:prstGeom>
          <a:solidFill>
            <a:srgbClr val="171C24"/>
          </a:solidFill>
          <a:ln w="12700">
            <a:solidFill>
              <a:srgbClr val="293241"/>
            </a:solidFill>
            <a:prstDash val="solid"/>
          </a:ln>
          <a:effectLst>
            <a:outerShdw blurRad="25400" dist="635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5" name="Image 2" descr="/Users/linzhang/Desktop/      OPC/健康管理/demo-ppt/assets/patient-progress.png"/>
          <p:cNvPicPr>
            <a:picLocks noChangeAspect="1"/>
          </p:cNvPicPr>
          <p:nvPr/>
        </p:nvPicPr>
        <p:blipFill>
          <a:blip r:embed="rId3"/>
          <a:srcRect t="39509" b="39509"/>
          <a:stretch>
            <a:fillRect/>
          </a:stretch>
        </p:blipFill>
        <p:spPr>
          <a:xfrm>
            <a:off x="8119872" y="3877056"/>
            <a:ext cx="3291840" cy="1719072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5998464" y="6473952"/>
            <a:ext cx="219456" cy="91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F9AAA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6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87552"/>
            <a:ext cx="420624" cy="3182112"/>
          </a:xfrm>
          <a:prstGeom prst="roundRect">
            <a:avLst>
              <a:gd name="adj" fmla="val 43478"/>
            </a:avLst>
          </a:prstGeom>
          <a:solidFill>
            <a:srgbClr val="2F7BF6"/>
          </a:solidFill>
          <a:ln w="12700">
            <a:solidFill>
              <a:srgbClr val="2F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768328" y="987552"/>
            <a:ext cx="420624" cy="3182112"/>
          </a:xfrm>
          <a:prstGeom prst="roundRect">
            <a:avLst>
              <a:gd name="adj" fmla="val 43478"/>
            </a:avLst>
          </a:prstGeom>
          <a:solidFill>
            <a:srgbClr val="35D0E8"/>
          </a:solidFill>
          <a:ln w="12700">
            <a:solidFill>
              <a:srgbClr val="35D0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582912" y="182880"/>
            <a:ext cx="256032" cy="256032"/>
          </a:xfrm>
          <a:prstGeom prst="hexagon">
            <a:avLst/>
          </a:prstGeom>
          <a:solidFill>
            <a:srgbClr val="35D0E8"/>
          </a:solidFill>
          <a:ln w="12700">
            <a:solidFill>
              <a:srgbClr val="35D0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02368" y="182880"/>
            <a:ext cx="256032" cy="256032"/>
          </a:xfrm>
          <a:prstGeom prst="hexagon">
            <a:avLst/>
          </a:prstGeom>
          <a:solidFill>
            <a:srgbClr val="2F7BF6"/>
          </a:solidFill>
          <a:ln w="12700">
            <a:solidFill>
              <a:srgbClr val="2F7B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76688" y="164592"/>
            <a:ext cx="1371600" cy="1280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80" b="1" dirty="0">
                <a:solidFill>
                  <a:srgbClr val="F9FAFB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灵核AI虾客松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9985248" y="310896"/>
            <a:ext cx="1536192" cy="1097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80" dirty="0">
                <a:solidFill>
                  <a:srgbClr val="8F9AAA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LinkClaw Hackathon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3895344" y="2798064"/>
            <a:ext cx="1371600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9FAFB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谢谢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468112" y="2834640"/>
            <a:ext cx="3364992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D7DCE5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慢病风险分层、行为干预与 MDT 在线协作平台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68112" y="3072384"/>
            <a:ext cx="2560320" cy="1280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8F9AAA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MoKangMedical · 健康管理项目组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98464" y="6473952"/>
            <a:ext cx="219456" cy="91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F9AAA"/>
                </a:solidFill>
                <a:latin typeface="Verdana" panose="020B0804030504040204" pitchFamily="34" charset="0"/>
                <a:ea typeface="Verdana" panose="020B0804030504040204" pitchFamily="34" charset="-122"/>
                <a:cs typeface="Verdana" panose="020B0804030504040204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40492897_1*a*1"/>
  <p:tag name="KSO_WM_TEMPLATE_CATEGORY" val="custom"/>
  <p:tag name="KSO_WM_TEMPLATE_INDEX" val="40492897"/>
  <p:tag name="KSO_WM_UNIT_LAYERLEVEL" val="1"/>
  <p:tag name="KSO_WM_TAG_VERSION" val="3.0"/>
  <p:tag name="KSO_WM_BEAUTIFY_FLAG" val="#wm#"/>
  <p:tag name="KSO_WM_UNIT_VALUE" val="30"/>
  <p:tag name="KSO_WM_UNIT_PRESET_TEXT" val="单击此处添加标题具体内容，简明扼要地阐述您的观点。根据需要可酌情增减文字，以便观者准确地理解您传达的思想"/>
  <p:tag name="KSO_WM_UNIT_TEXT_TYPE" val="1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40492897_1*i*1"/>
  <p:tag name="KSO_WM_TEMPLATE_CATEGORY" val="custom"/>
  <p:tag name="KSO_WM_TEMPLATE_INDEX" val="40492897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custom40492897_1*i*2"/>
  <p:tag name="KSO_WM_TEMPLATE_CATEGORY" val="custom"/>
  <p:tag name="KSO_WM_TEMPLATE_INDEX" val="40492897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custom40492897_1*i*3"/>
  <p:tag name="KSO_WM_TEMPLATE_CATEGORY" val="custom"/>
  <p:tag name="KSO_WM_TEMPLATE_INDEX" val="40492897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custom40492897_1*i*4"/>
  <p:tag name="KSO_WM_TEMPLATE_CATEGORY" val="custom"/>
  <p:tag name="KSO_WM_TEMPLATE_INDEX" val="40492897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custom40492897_1*i*5"/>
  <p:tag name="KSO_WM_TEMPLATE_CATEGORY" val="custom"/>
  <p:tag name="KSO_WM_TEMPLATE_INDEX" val="40492897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custom40492897_1*i*6"/>
  <p:tag name="KSO_WM_TEMPLATE_CATEGORY" val="custom"/>
  <p:tag name="KSO_WM_TEMPLATE_INDEX" val="40492897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SLIDE_ID" val="custom40492897_1"/>
  <p:tag name="KSO_WM_TEMPLATE_SUBCATEGORY" val="0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40492897"/>
  <p:tag name="KSO_WM_SLIDE_TYPE" val="text"/>
  <p:tag name="KSO_WM_SLIDE_SUBTYPE" val="picTxt"/>
  <p:tag name="KSO_WM_SLIDE_SIZE" val="720*320"/>
  <p:tag name="KSO_WM_SLIDE_POSITION" val="129*105"/>
  <p:tag name="KSO_WM_SLIDE_LAYOUT" val="a"/>
  <p:tag name="KSO_WM_SLIDE_LAYOUT_CNT" val="1"/>
  <p:tag name="KSO_WM_SPECIAL_SOURCE" val="bdnull"/>
  <p:tag name="RESOURCE_RECORD_KEY" val="{&quot;19&quot;:[20348536,20348573],&quot;65&quot;:[3]}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4*a*1"/>
  <p:tag name="KSO_WM_TEMPLATE_CATEGORY" val="diagram"/>
  <p:tag name="KSO_WM_TEMPLATE_INDEX" val="20230939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30"/>
  <p:tag name="KSO_WM_UNIT_TYPE" val="a"/>
  <p:tag name="KSO_WM_UNIT_INDEX" val="1"/>
  <p:tag name="KSO_WM_UNIT_TEXT_TYPE" val="1"/>
  <p:tag name="KSO_WM_UNIT_PRESET_TEXT" val="单击此处添加标题"/>
  <p:tag name="KSO_WM_UNIT_TEXT_FILL_FORE_SCHEMECOLOR_INDEX" val="13"/>
  <p:tag name="KSO_WM_UNIT_TEXT_FILL_TYPE" val="1"/>
  <p:tag name="KSO_WM_UNIT_USESOURCEFORMAT_APPLY" val="0"/>
</p:tagLst>
</file>

<file path=ppt/tags/tag14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3_1"/>
  <p:tag name="KSO_WM_UNIT_ID" val="diagram20230939_4*m_h_f*1_3_1"/>
  <p:tag name="KSO_WM_TEMPLATE_CATEGORY" val="diagram"/>
  <p:tag name="KSO_WM_TEMPLATE_INDEX" val="20230939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VALUE" val="60"/>
  <p:tag name="KSO_WM_DIAGRAM_MAX_ITEMCNT" val="6"/>
  <p:tag name="KSO_WM_DIAGRAM_MIN_ITEMCNT" val="2"/>
  <p:tag name="KSO_WM_DIAGRAM_VIRTUALLY_FRAME" val="{&quot;height&quot;:321.1000061035156,&quot;width&quot;:86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文字是您思想的提炼，请言简意赅的阐述观点"/>
  <p:tag name="KSO_WM_UNIT_TEXT_FILL_FORE_SCHEMECOLOR_INDEX" val="1"/>
  <p:tag name="KSO_WM_UNIT_TEXT_FILL_TYPE" val="1"/>
  <p:tag name="KSO_WM_UNIT_USESOURCEFORMAT_APPLY" val="0"/>
</p:tagLst>
</file>

<file path=ppt/tags/tag15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4_1"/>
  <p:tag name="KSO_WM_UNIT_ID" val="diagram20230939_4*m_h_f*1_4_1"/>
  <p:tag name="KSO_WM_TEMPLATE_CATEGORY" val="diagram"/>
  <p:tag name="KSO_WM_TEMPLATE_INDEX" val="20230939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21.1000061035156,&quot;width&quot;:86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60"/>
  <p:tag name="KSO_WM_UNIT_TEXT_TYPE" val="1"/>
  <p:tag name="KSO_WM_UNIT_TEXT_LAYER_COUNT" val="1"/>
  <p:tag name="KSO_WM_BEAUTIFY_FLAG" val="#wm#"/>
  <p:tag name="KSO_WM_UNIT_PRESET_TEXT" val="单击此处添加你的文本具体内容"/>
  <p:tag name="KSO_WM_UNIT_TEXT_FILL_FORE_SCHEMECOLOR_INDEX" val="1"/>
  <p:tag name="KSO_WM_UNIT_TEXT_FILL_TYPE" val="1"/>
  <p:tag name="KSO_WM_UNIT_USESOURCEFORMAT_APPLY" val="0"/>
</p:tagLst>
</file>

<file path=ppt/tags/tag16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1_1"/>
  <p:tag name="KSO_WM_UNIT_ID" val="diagram20230939_4*m_h_f*1_1_1"/>
  <p:tag name="KSO_WM_TEMPLATE_CATEGORY" val="diagram"/>
  <p:tag name="KSO_WM_TEMPLATE_INDEX" val="20230939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VALUE" val="60"/>
  <p:tag name="KSO_WM_DIAGRAM_MAX_ITEMCNT" val="6"/>
  <p:tag name="KSO_WM_DIAGRAM_MIN_ITEMCNT" val="2"/>
  <p:tag name="KSO_WM_DIAGRAM_VIRTUALLY_FRAME" val="{&quot;height&quot;:321.1000061035156,&quot;width&quot;:86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文字是您思想的提炼，请言简意赅的阐述观点"/>
  <p:tag name="KSO_WM_UNIT_TEXT_FILL_FORE_SCHEMECOLOR_INDEX" val="1"/>
  <p:tag name="KSO_WM_UNIT_TEXT_FILL_TYPE" val="1"/>
  <p:tag name="KSO_WM_UNIT_USESOURCEFORMAT_APPLY" val="0"/>
</p:tagLst>
</file>

<file path=ppt/tags/tag17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2_1"/>
  <p:tag name="KSO_WM_UNIT_ID" val="diagram20230939_4*m_h_f*1_2_1"/>
  <p:tag name="KSO_WM_TEMPLATE_CATEGORY" val="diagram"/>
  <p:tag name="KSO_WM_TEMPLATE_INDEX" val="20230939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21.1000061035156,&quot;width&quot;:86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60"/>
  <p:tag name="KSO_WM_UNIT_TEXT_TYPE" val="1"/>
  <p:tag name="KSO_WM_UNIT_TEXT_LAYER_COUNT" val="1"/>
  <p:tag name="KSO_WM_BEAUTIFY_FLAG" val="#wm#"/>
  <p:tag name="KSO_WM_UNIT_PRESET_TEXT" val="单击此处添加你的文本具体内容"/>
  <p:tag name="KSO_WM_UNIT_TEXT_FILL_FORE_SCHEMECOLOR_INDEX" val="1"/>
  <p:tag name="KSO_WM_UNIT_TEXT_FILL_TYPE" val="1"/>
  <p:tag name="KSO_WM_UNIT_USESOURCEFORMAT_APPLY" val="0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4*m_h_i*1_3_2"/>
  <p:tag name="KSO_WM_TEMPLATE_CATEGORY" val="diagram"/>
  <p:tag name="KSO_WM_TEMPLATE_INDEX" val="20230939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TYPE" val="m_h_i"/>
  <p:tag name="KSO_WM_UNIT_INDEX" val="1_3_2"/>
  <p:tag name="KSO_WM_DIAGRAM_MAX_ITEMCNT" val="6"/>
  <p:tag name="KSO_WM_DIAGRAM_MIN_ITEMCNT" val="2"/>
  <p:tag name="KSO_WM_DIAGRAM_VIRTUALLY_FRAME" val="{&quot;height&quot;:321.1000061035156,&quot;width&quot;:867}"/>
  <p:tag name="KSO_WM_DIAGRAM_COLOR_MATCH_VALUE" val="{&quot;shape&quot;:{&quot;fill&quot;:{&quot;solid&quot;:{&quot;brightness&quot;:0,&quot;colorType&quot;:1,&quot;foreColorIndex&quot;:7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7"/>
  <p:tag name="KSO_WM_UNIT_FILL_FORE_SCHEMECOLOR_INDEX_BRIGHTNESS" val="0"/>
  <p:tag name="KSO_WM_UNIT_TEXT_FILL_FORE_SCHEMECOLOR_INDEX" val="2"/>
  <p:tag name="KSO_WM_UNIT_TEXT_FILL_TYPE" val="1"/>
  <p:tag name="KSO_WM_UNIT_USESOURCEFORMAT_APPLY" val="0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4*m_h_a*1_3_2"/>
  <p:tag name="KSO_WM_TEMPLATE_CATEGORY" val="diagram"/>
  <p:tag name="KSO_WM_TEMPLATE_INDEX" val="20230939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ISCONTENTSTITLE" val="0"/>
  <p:tag name="KSO_WM_UNIT_ISNUMDGMTITLE" val="0"/>
  <p:tag name="KSO_WM_UNIT_NOCLEAR" val="0"/>
  <p:tag name="KSO_WM_UNIT_TYPE" val="m_h_a"/>
  <p:tag name="KSO_WM_UNIT_INDEX" val="1_3_2"/>
  <p:tag name="KSO_WM_DIAGRAM_MAX_ITEMCNT" val="6"/>
  <p:tag name="KSO_WM_DIAGRAM_MIN_ITEMCNT" val="2"/>
  <p:tag name="KSO_WM_DIAGRAM_VIRTUALLY_FRAME" val="{&quot;height&quot;:321.1000061035156,&quot;width&quot;:867}"/>
  <p:tag name="KSO_WM_DIAGRAM_COLOR_MATCH_VALUE" val="{&quot;shape&quot;:{&quot;fill&quot;:{&quot;solid&quot;:{&quot;brightness&quot;:0,&quot;colorType&quot;:1,&quot;foreColorIndex&quot;:7,&quot;transparency&quot;:0},&quot;type&quot;:1},&quot;glow&quot;:{&quot;colorType&quot;:0},&quot;line&quot;:{&quot;type&quot;:0},&quot;shadow&quot;:{&quot;brightness&quot;:0.800000011920929,&quot;colorType&quot;:1,&quot;foreColorIndex&quot;:7,&quot;transparency&quot;:0.400000005960464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PRESET_TEXT" val="添加标题"/>
  <p:tag name="KSO_WM_UNIT_FILL_TYPE" val="1"/>
  <p:tag name="KSO_WM_UNIT_FILL_FORE_SCHEMECOLOR_INDEX" val="7"/>
  <p:tag name="KSO_WM_UNIT_FILL_FORE_SCHEMECOLOR_INDEX_BRIGHTNESS" val="0"/>
  <p:tag name="KSO_WM_UNIT_TEXT_TYPE" val="1"/>
  <p:tag name="KSO_WM_UNIT_SHADOW_SCHEMECOLOR_INDEX" val="7"/>
  <p:tag name="KSO_WM_UNIT_USESOURCEFORMAT_APPLY" val="0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4*m_h_i*1_3_1"/>
  <p:tag name="KSO_WM_TEMPLATE_CATEGORY" val="diagram"/>
  <p:tag name="KSO_WM_TEMPLATE_INDEX" val="20230939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TYPE" val="m_h_i"/>
  <p:tag name="KSO_WM_UNIT_INDEX" val="1_3_1"/>
  <p:tag name="KSO_WM_DIAGRAM_MAX_ITEMCNT" val="6"/>
  <p:tag name="KSO_WM_DIAGRAM_MIN_ITEMCNT" val="2"/>
  <p:tag name="KSO_WM_DIAGRAM_VIRTUALLY_FRAME" val="{&quot;height&quot;:321.1000061035156,&quot;width&quot;:867}"/>
  <p:tag name="KSO_WM_DIAGRAM_COLOR_MATCH_VALUE" val="{&quot;shape&quot;:{&quot;fill&quot;:{&quot;type&quot;:0},&quot;glow&quot;:{&quot;colorType&quot;:0},&quot;line&quot;:{&quot;gradient&quot;:[{&quot;brightness&quot;:0,&quot;colorType&quot;:2,&quot;pos&quot;:0,&quot;rgb&quot;:&quot;#ffffff&quot;,&quot;transparency&quot;:0.550000011920929},{&quot;brightness&quot;:0,&quot;colorType&quot;:2,&quot;pos&quot;:1,&quot;rgb&quot;:&quot;#ffffff&quot;,&quot;transparency&quot;:0.550000011920929},{&quot;brightness&quot;:0,&quot;colorType&quot;:2,&quot;pos&quot;:0.75,&quot;rgb&quot;:&quot;#ffffff&quot;,&quot;transparency&quot;:1},{&quot;brightness&quot;:0,&quot;colorType&quot;:2,&quot;pos&quot;:0.25,&quot;rgb&quot;:&quot;#ffffff&quot;,&quot;transparency&quot;:1}],&quot;type&quot;:2},&quot;shadow&quot;:{&quot;brightness&quot;:-0.25,&quot;colorType&quot;:1,&quot;foreColorIndex&quot;:7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SHADOW_SCHEMECOLOR_INDEX" val="7"/>
  <p:tag name="KSO_WM_UNIT_TEXT_FILL_FORE_SCHEMECOLOR_INDEX" val="2"/>
  <p:tag name="KSO_WM_UNIT_TEXT_FILL_TYPE" val="1"/>
  <p:tag name="KSO_WM_UNIT_USESOURCEFORMAT_APPLY" val="0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4*m_h_i*1_3_3"/>
  <p:tag name="KSO_WM_TEMPLATE_CATEGORY" val="diagram"/>
  <p:tag name="KSO_WM_TEMPLATE_INDEX" val="20230939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TYPE" val="m_h_i"/>
  <p:tag name="KSO_WM_UNIT_INDEX" val="1_3_3"/>
  <p:tag name="KSO_WM_DIAGRAM_MAX_ITEMCNT" val="6"/>
  <p:tag name="KSO_WM_DIAGRAM_MIN_ITEMCNT" val="2"/>
  <p:tag name="KSO_WM_DIAGRAM_VIRTUALLY_FRAME" val="{&quot;height&quot;:321.1000061035156,&quot;width&quot;:867}"/>
  <p:tag name="KSO_WM_DIAGRAM_COLOR_MATCH_VALUE" val="{&quot;shape&quot;:{&quot;fill&quot;:{&quot;type&quot;:0},&quot;glow&quot;:{&quot;colorType&quot;:0},&quot;line&quot;:{&quot;solidLine&quot;:{&quot;brightness&quot;:0,&quot;colorType&quot;:1,&quot;foreColorIndex&quot;:7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7"/>
  <p:tag name="KSO_WM_UNIT_LINE_FILL_TYPE" val="2"/>
  <p:tag name="KSO_WM_UNIT_TEXT_FILL_FORE_SCHEMECOLOR_INDEX" val="13"/>
  <p:tag name="KSO_WM_UNIT_TEXT_FILL_TYPE" val="1"/>
  <p:tag name="KSO_WM_UNIT_USESOURCEFORMAT_APPLY" val="0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4*m_h_i*1_4_2"/>
  <p:tag name="KSO_WM_TEMPLATE_CATEGORY" val="diagram"/>
  <p:tag name="KSO_WM_TEMPLATE_INDEX" val="20230939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TYPE" val="m_h_i"/>
  <p:tag name="KSO_WM_UNIT_INDEX" val="1_4_2"/>
  <p:tag name="KSO_WM_DIAGRAM_MAX_ITEMCNT" val="6"/>
  <p:tag name="KSO_WM_DIAGRAM_MIN_ITEMCNT" val="2"/>
  <p:tag name="KSO_WM_DIAGRAM_VIRTUALLY_FRAME" val="{&quot;height&quot;:321.1000061035156,&quot;width&quot;:867}"/>
  <p:tag name="KSO_WM_DIAGRAM_COLOR_MATCH_VALUE" val="{&quot;shape&quot;:{&quot;fill&quot;:{&quot;solid&quot;:{&quot;brightness&quot;:0,&quot;colorType&quot;:1,&quot;foreColorIndex&quot;:8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8"/>
  <p:tag name="KSO_WM_UNIT_FILL_FORE_SCHEMECOLOR_INDEX_BRIGHTNESS" val="0"/>
  <p:tag name="KSO_WM_UNIT_TEXT_FILL_FORE_SCHEMECOLOR_INDEX" val="2"/>
  <p:tag name="KSO_WM_UNIT_TEXT_FILL_TYPE" val="1"/>
  <p:tag name="KSO_WM_UNIT_USESOURCEFORMAT_APPLY" val="0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4*m_h_a*1_4_2"/>
  <p:tag name="KSO_WM_TEMPLATE_CATEGORY" val="diagram"/>
  <p:tag name="KSO_WM_TEMPLATE_INDEX" val="20230939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ISCONTENTSTITLE" val="0"/>
  <p:tag name="KSO_WM_UNIT_ISNUMDGMTITLE" val="0"/>
  <p:tag name="KSO_WM_UNIT_NOCLEAR" val="0"/>
  <p:tag name="KSO_WM_UNIT_TYPE" val="m_h_a"/>
  <p:tag name="KSO_WM_UNIT_INDEX" val="1_4_2"/>
  <p:tag name="KSO_WM_DIAGRAM_MAX_ITEMCNT" val="6"/>
  <p:tag name="KSO_WM_DIAGRAM_MIN_ITEMCNT" val="2"/>
  <p:tag name="KSO_WM_DIAGRAM_VIRTUALLY_FRAME" val="{&quot;height&quot;:321.1000061035156,&quot;width&quot;:867}"/>
  <p:tag name="KSO_WM_DIAGRAM_COLOR_MATCH_VALUE" val="{&quot;shape&quot;:{&quot;fill&quot;:{&quot;solid&quot;:{&quot;brightness&quot;:0,&quot;colorType&quot;:1,&quot;foreColorIndex&quot;:8,&quot;transparency&quot;:0},&quot;type&quot;:1},&quot;glow&quot;:{&quot;colorType&quot;:0},&quot;line&quot;:{&quot;type&quot;:0},&quot;shadow&quot;:{&quot;brightness&quot;:0.800000011920929,&quot;colorType&quot;:1,&quot;foreColorIndex&quot;:8,&quot;transparency&quot;:0.400000005960464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PRESET_TEXT" val="添加标题"/>
  <p:tag name="KSO_WM_UNIT_FILL_TYPE" val="1"/>
  <p:tag name="KSO_WM_UNIT_FILL_FORE_SCHEMECOLOR_INDEX" val="8"/>
  <p:tag name="KSO_WM_UNIT_FILL_FORE_SCHEMECOLOR_INDEX_BRIGHTNESS" val="0"/>
  <p:tag name="KSO_WM_UNIT_TEXT_TYPE" val="1"/>
  <p:tag name="KSO_WM_UNIT_SHADOW_SCHEMECOLOR_INDEX" val="8"/>
  <p:tag name="KSO_WM_UNIT_USESOURCEFORMAT_APPLY" val="0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4*m_h_i*1_4_1"/>
  <p:tag name="KSO_WM_TEMPLATE_CATEGORY" val="diagram"/>
  <p:tag name="KSO_WM_TEMPLATE_INDEX" val="20230939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TYPE" val="m_h_i"/>
  <p:tag name="KSO_WM_UNIT_INDEX" val="1_4_1"/>
  <p:tag name="KSO_WM_DIAGRAM_MAX_ITEMCNT" val="6"/>
  <p:tag name="KSO_WM_DIAGRAM_MIN_ITEMCNT" val="2"/>
  <p:tag name="KSO_WM_DIAGRAM_VIRTUALLY_FRAME" val="{&quot;height&quot;:321.1000061035156,&quot;width&quot;:867}"/>
  <p:tag name="KSO_WM_DIAGRAM_COLOR_MATCH_VALUE" val="{&quot;shape&quot;:{&quot;fill&quot;:{&quot;type&quot;:0},&quot;glow&quot;:{&quot;colorType&quot;:0},&quot;line&quot;:{&quot;gradient&quot;:[{&quot;brightness&quot;:0,&quot;colorType&quot;:2,&quot;pos&quot;:0,&quot;rgb&quot;:&quot;#ffffff&quot;,&quot;transparency&quot;:0.550000011920929},{&quot;brightness&quot;:0,&quot;colorType&quot;:2,&quot;pos&quot;:1,&quot;rgb&quot;:&quot;#ffffff&quot;,&quot;transparency&quot;:0.550000011920929},{&quot;brightness&quot;:0,&quot;colorType&quot;:2,&quot;pos&quot;:0.75,&quot;rgb&quot;:&quot;#ffffff&quot;,&quot;transparency&quot;:1},{&quot;brightness&quot;:0,&quot;colorType&quot;:2,&quot;pos&quot;:0.25,&quot;rgb&quot;:&quot;#ffffff&quot;,&quot;transparency&quot;:1}],&quot;type&quot;:2},&quot;shadow&quot;:{&quot;brightness&quot;:-0.25,&quot;colorType&quot;:1,&quot;foreColorIndex&quot;:8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SHADOW_SCHEMECOLOR_INDEX" val="8"/>
  <p:tag name="KSO_WM_UNIT_TEXT_FILL_FORE_SCHEMECOLOR_INDEX" val="2"/>
  <p:tag name="KSO_WM_UNIT_TEXT_FILL_TYPE" val="1"/>
  <p:tag name="KSO_WM_UNIT_USESOURCEFORMAT_APPLY" val="0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4*m_h_i*1_4_3"/>
  <p:tag name="KSO_WM_TEMPLATE_CATEGORY" val="diagram"/>
  <p:tag name="KSO_WM_TEMPLATE_INDEX" val="20230939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TYPE" val="m_h_i"/>
  <p:tag name="KSO_WM_UNIT_INDEX" val="1_4_3"/>
  <p:tag name="KSO_WM_DIAGRAM_MAX_ITEMCNT" val="6"/>
  <p:tag name="KSO_WM_DIAGRAM_MIN_ITEMCNT" val="2"/>
  <p:tag name="KSO_WM_DIAGRAM_VIRTUALLY_FRAME" val="{&quot;height&quot;:321.1000061035156,&quot;width&quot;:867}"/>
  <p:tag name="KSO_WM_DIAGRAM_COLOR_MATCH_VALUE" val="{&quot;shape&quot;:{&quot;fill&quot;:{&quot;type&quot;:0},&quot;glow&quot;:{&quot;colorType&quot;:0},&quot;line&quot;:{&quot;solidLine&quot;:{&quot;brightness&quot;:0,&quot;colorType&quot;:1,&quot;foreColorIndex&quot;:8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8"/>
  <p:tag name="KSO_WM_UNIT_LINE_FILL_TYPE" val="2"/>
  <p:tag name="KSO_WM_UNIT_TEXT_FILL_FORE_SCHEMECOLOR_INDEX" val="13"/>
  <p:tag name="KSO_WM_UNIT_TEXT_FILL_TYPE" val="1"/>
  <p:tag name="KSO_WM_UNIT_USESOURCEFORMAT_APPLY" val="0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4*m_h_i*1_1_2"/>
  <p:tag name="KSO_WM_TEMPLATE_CATEGORY" val="diagram"/>
  <p:tag name="KSO_WM_TEMPLATE_INDEX" val="20230939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TYPE" val="m_h_i"/>
  <p:tag name="KSO_WM_UNIT_INDEX" val="1_1_2"/>
  <p:tag name="KSO_WM_DIAGRAM_MAX_ITEMCNT" val="6"/>
  <p:tag name="KSO_WM_DIAGRAM_MIN_ITEMCNT" val="2"/>
  <p:tag name="KSO_WM_DIAGRAM_VIRTUALLY_FRAME" val="{&quot;height&quot;:321.1000061035156,&quot;width&quot;:867}"/>
  <p:tag name="KSO_WM_DIAGRAM_COLOR_MATCH_VALUE" val="{&quot;shape&quot;:{&quot;fill&quot;:{&quot;solid&quot;:{&quot;brightness&quot;:0,&quot;colorType&quot;:1,&quot;foreColorIndex&quot;:5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UNIT_TEXT_FILL_FORE_SCHEMECOLOR_INDEX" val="2"/>
  <p:tag name="KSO_WM_UNIT_TEXT_FILL_TYPE" val="1"/>
  <p:tag name="KSO_WM_UNIT_USESOURCEFORMAT_APPLY" val="0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4*m_h_a*1_1_2"/>
  <p:tag name="KSO_WM_TEMPLATE_CATEGORY" val="diagram"/>
  <p:tag name="KSO_WM_TEMPLATE_INDEX" val="20230939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ISCONTENTSTITLE" val="0"/>
  <p:tag name="KSO_WM_UNIT_ISNUMDGMTITLE" val="0"/>
  <p:tag name="KSO_WM_UNIT_NOCLEAR" val="0"/>
  <p:tag name="KSO_WM_UNIT_TYPE" val="m_h_a"/>
  <p:tag name="KSO_WM_UNIT_INDEX" val="1_1_2"/>
  <p:tag name="KSO_WM_DIAGRAM_MAX_ITEMCNT" val="6"/>
  <p:tag name="KSO_WM_DIAGRAM_MIN_ITEMCNT" val="2"/>
  <p:tag name="KSO_WM_DIAGRAM_VIRTUALLY_FRAME" val="{&quot;height&quot;:321.1000061035156,&quot;width&quot;:867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brightness&quot;:0.800000011920929,&quot;colorType&quot;:1,&quot;foreColorIndex&quot;:5,&quot;transparency&quot;:0.400000005960464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PRESET_TEXT" val="添加标题"/>
  <p:tag name="KSO_WM_UNIT_FILL_TYPE" val="1"/>
  <p:tag name="KSO_WM_UNIT_FILL_FORE_SCHEMECOLOR_INDEX" val="5"/>
  <p:tag name="KSO_WM_UNIT_FILL_FORE_SCHEMECOLOR_INDEX_BRIGHTNESS" val="0"/>
  <p:tag name="KSO_WM_UNIT_TEXT_TYPE" val="1"/>
  <p:tag name="KSO_WM_UNIT_SHADOW_SCHEMECOLOR_INDEX" val="5"/>
  <p:tag name="KSO_WM_UNIT_USESOURCEFORMAT_APPLY" val="0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4*m_h_i*1_1_1"/>
  <p:tag name="KSO_WM_TEMPLATE_CATEGORY" val="diagram"/>
  <p:tag name="KSO_WM_TEMPLATE_INDEX" val="20230939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TYPE" val="m_h_i"/>
  <p:tag name="KSO_WM_UNIT_INDEX" val="1_1_1"/>
  <p:tag name="KSO_WM_DIAGRAM_MAX_ITEMCNT" val="6"/>
  <p:tag name="KSO_WM_DIAGRAM_MIN_ITEMCNT" val="2"/>
  <p:tag name="KSO_WM_DIAGRAM_VIRTUALLY_FRAME" val="{&quot;height&quot;:321.1000061035156,&quot;width&quot;:867}"/>
  <p:tag name="KSO_WM_DIAGRAM_COLOR_MATCH_VALUE" val="{&quot;shape&quot;:{&quot;fill&quot;:{&quot;type&quot;:0},&quot;glow&quot;:{&quot;colorType&quot;:0},&quot;line&quot;:{&quot;gradient&quot;:[{&quot;brightness&quot;:0,&quot;colorType&quot;:2,&quot;pos&quot;:0,&quot;rgb&quot;:&quot;#ffffff&quot;,&quot;transparency&quot;:0.550000011920929},{&quot;brightness&quot;:0,&quot;colorType&quot;:2,&quot;pos&quot;:1,&quot;rgb&quot;:&quot;#ffffff&quot;,&quot;transparency&quot;:0.550000011920929},{&quot;brightness&quot;:0,&quot;colorType&quot;:2,&quot;pos&quot;:0.75,&quot;rgb&quot;:&quot;#ffffff&quot;,&quot;transparency&quot;:1},{&quot;brightness&quot;:0,&quot;colorType&quot;:2,&quot;pos&quot;:0.25,&quot;rgb&quot;:&quot;#ffffff&quot;,&quot;transparency&quot;:1}],&quot;type&quot;:2},&quot;shadow&quot;:{&quot;brightness&quot;:-0.25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SHADOW_SCHEMECOLOR_INDEX" val="5"/>
  <p:tag name="KSO_WM_UNIT_TEXT_FILL_FORE_SCHEMECOLOR_INDEX" val="2"/>
  <p:tag name="KSO_WM_UNIT_TEXT_FILL_TYPE" val="1"/>
  <p:tag name="KSO_WM_UNIT_USESOURCEFORMAT_APPLY" val="0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4*m_h_i*1_1_3"/>
  <p:tag name="KSO_WM_TEMPLATE_CATEGORY" val="diagram"/>
  <p:tag name="KSO_WM_TEMPLATE_INDEX" val="20230939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TYPE" val="m_h_i"/>
  <p:tag name="KSO_WM_UNIT_INDEX" val="1_1_3"/>
  <p:tag name="KSO_WM_DIAGRAM_MAX_ITEMCNT" val="6"/>
  <p:tag name="KSO_WM_DIAGRAM_MIN_ITEMCNT" val="2"/>
  <p:tag name="KSO_WM_DIAGRAM_VIRTUALLY_FRAME" val="{&quot;height&quot;:321.1000061035156,&quot;width&quot;:867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5"/>
  <p:tag name="KSO_WM_UNIT_LINE_FILL_TYPE" val="2"/>
  <p:tag name="KSO_WM_UNIT_TEXT_FILL_FORE_SCHEMECOLOR_INDEX" val="13"/>
  <p:tag name="KSO_WM_UNIT_TEXT_FILL_TYPE" val="1"/>
  <p:tag name="KSO_WM_UNIT_USESOURCEFORMAT_APPLY" val="0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4*m_h_i*1_2_2"/>
  <p:tag name="KSO_WM_TEMPLATE_CATEGORY" val="diagram"/>
  <p:tag name="KSO_WM_TEMPLATE_INDEX" val="20230939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TYPE" val="m_h_i"/>
  <p:tag name="KSO_WM_UNIT_INDEX" val="1_2_2"/>
  <p:tag name="KSO_WM_DIAGRAM_MAX_ITEMCNT" val="6"/>
  <p:tag name="KSO_WM_DIAGRAM_MIN_ITEMCNT" val="2"/>
  <p:tag name="KSO_WM_DIAGRAM_VIRTUALLY_FRAME" val="{&quot;height&quot;:321.1000061035156,&quot;width&quot;:867}"/>
  <p:tag name="KSO_WM_DIAGRAM_COLOR_MATCH_VALUE" val="{&quot;shape&quot;:{&quot;fill&quot;:{&quot;solid&quot;:{&quot;brightness&quot;:0,&quot;colorType&quot;:1,&quot;foreColorIndex&quot;:6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6"/>
  <p:tag name="KSO_WM_UNIT_FILL_FORE_SCHEMECOLOR_INDEX_BRIGHTNESS" val="0"/>
  <p:tag name="KSO_WM_UNIT_TEXT_FILL_FORE_SCHEMECOLOR_INDEX" val="2"/>
  <p:tag name="KSO_WM_UNIT_TEXT_FILL_TYPE" val="1"/>
  <p:tag name="KSO_WM_UNIT_USESOURCEFORMAT_APPLY" val="0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4*m_h_a*1_2_2"/>
  <p:tag name="KSO_WM_TEMPLATE_CATEGORY" val="diagram"/>
  <p:tag name="KSO_WM_TEMPLATE_INDEX" val="20230939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ISCONTENTSTITLE" val="0"/>
  <p:tag name="KSO_WM_UNIT_ISNUMDGMTITLE" val="0"/>
  <p:tag name="KSO_WM_UNIT_NOCLEAR" val="0"/>
  <p:tag name="KSO_WM_UNIT_TYPE" val="m_h_a"/>
  <p:tag name="KSO_WM_UNIT_INDEX" val="1_2_2"/>
  <p:tag name="KSO_WM_DIAGRAM_MAX_ITEMCNT" val="6"/>
  <p:tag name="KSO_WM_DIAGRAM_MIN_ITEMCNT" val="2"/>
  <p:tag name="KSO_WM_DIAGRAM_VIRTUALLY_FRAME" val="{&quot;height&quot;:321.1000061035156,&quot;width&quot;:867}"/>
  <p:tag name="KSO_WM_DIAGRAM_COLOR_MATCH_VALUE" val="{&quot;shape&quot;:{&quot;fill&quot;:{&quot;solid&quot;:{&quot;brightness&quot;:0,&quot;colorType&quot;:1,&quot;foreColorIndex&quot;:6,&quot;transparency&quot;:0},&quot;type&quot;:1},&quot;glow&quot;:{&quot;colorType&quot;:0},&quot;line&quot;:{&quot;type&quot;:0},&quot;shadow&quot;:{&quot;brightness&quot;:0.800000011920929,&quot;colorType&quot;:1,&quot;foreColorIndex&quot;:6,&quot;transparency&quot;:0.400000005960464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PRESET_TEXT" val="添加标题"/>
  <p:tag name="KSO_WM_UNIT_FILL_TYPE" val="1"/>
  <p:tag name="KSO_WM_UNIT_FILL_FORE_SCHEMECOLOR_INDEX" val="6"/>
  <p:tag name="KSO_WM_UNIT_FILL_FORE_SCHEMECOLOR_INDEX_BRIGHTNESS" val="0"/>
  <p:tag name="KSO_WM_UNIT_TEXT_TYPE" val="1"/>
  <p:tag name="KSO_WM_UNIT_SHADOW_SCHEMECOLOR_INDEX" val="6"/>
  <p:tag name="KSO_WM_UNIT_USESOURCEFORMAT_APPLY" val="0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4*m_h_i*1_2_1"/>
  <p:tag name="KSO_WM_TEMPLATE_CATEGORY" val="diagram"/>
  <p:tag name="KSO_WM_TEMPLATE_INDEX" val="20230939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TYPE" val="m_h_i"/>
  <p:tag name="KSO_WM_UNIT_INDEX" val="1_2_1"/>
  <p:tag name="KSO_WM_DIAGRAM_MAX_ITEMCNT" val="6"/>
  <p:tag name="KSO_WM_DIAGRAM_MIN_ITEMCNT" val="2"/>
  <p:tag name="KSO_WM_DIAGRAM_VIRTUALLY_FRAME" val="{&quot;height&quot;:321.1000061035156,&quot;width&quot;:867}"/>
  <p:tag name="KSO_WM_DIAGRAM_COLOR_MATCH_VALUE" val="{&quot;shape&quot;:{&quot;fill&quot;:{&quot;type&quot;:0},&quot;glow&quot;:{&quot;colorType&quot;:0},&quot;line&quot;:{&quot;gradient&quot;:[{&quot;brightness&quot;:0,&quot;colorType&quot;:2,&quot;pos&quot;:0,&quot;rgb&quot;:&quot;#ffffff&quot;,&quot;transparency&quot;:0.550000011920929},{&quot;brightness&quot;:0,&quot;colorType&quot;:2,&quot;pos&quot;:1,&quot;rgb&quot;:&quot;#ffffff&quot;,&quot;transparency&quot;:0.550000011920929},{&quot;brightness&quot;:0,&quot;colorType&quot;:2,&quot;pos&quot;:0.75,&quot;rgb&quot;:&quot;#ffffff&quot;,&quot;transparency&quot;:1},{&quot;brightness&quot;:0,&quot;colorType&quot;:2,&quot;pos&quot;:0.25,&quot;rgb&quot;:&quot;#ffffff&quot;,&quot;transparency&quot;:1}],&quot;type&quot;:2},&quot;shadow&quot;:{&quot;brightness&quot;:-0.25,&quot;colorType&quot;:1,&quot;foreColorIndex&quot;:6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SHADOW_SCHEMECOLOR_INDEX" val="6"/>
  <p:tag name="KSO_WM_UNIT_TEXT_FILL_FORE_SCHEMECOLOR_INDEX" val="2"/>
  <p:tag name="KSO_WM_UNIT_TEXT_FILL_TYPE" val="1"/>
  <p:tag name="KSO_WM_UNIT_USESOURCEFORMAT_APPLY" val="0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4*m_h_i*1_2_3"/>
  <p:tag name="KSO_WM_TEMPLATE_CATEGORY" val="diagram"/>
  <p:tag name="KSO_WM_TEMPLATE_INDEX" val="20230939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TYPE" val="m_h_i"/>
  <p:tag name="KSO_WM_UNIT_INDEX" val="1_2_3"/>
  <p:tag name="KSO_WM_DIAGRAM_MAX_ITEMCNT" val="6"/>
  <p:tag name="KSO_WM_DIAGRAM_MIN_ITEMCNT" val="2"/>
  <p:tag name="KSO_WM_DIAGRAM_VIRTUALLY_FRAME" val="{&quot;height&quot;:321.1000061035156,&quot;width&quot;:867}"/>
  <p:tag name="KSO_WM_DIAGRAM_COLOR_MATCH_VALUE" val="{&quot;shape&quot;:{&quot;fill&quot;:{&quot;type&quot;:0},&quot;glow&quot;:{&quot;colorType&quot;:0},&quot;line&quot;:{&quot;solidLine&quot;:{&quot;brightness&quot;:0,&quot;colorType&quot;:1,&quot;foreColorIndex&quot;:6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6"/>
  <p:tag name="KSO_WM_UNIT_LINE_FILL_TYPE" val="2"/>
  <p:tag name="KSO_WM_UNIT_TEXT_FILL_FORE_SCHEMECOLOR_INDEX" val="13"/>
  <p:tag name="KSO_WM_UNIT_TEXT_FILL_TYPE" val="1"/>
  <p:tag name="KSO_WM_UNIT_USESOURCEFORMAT_APPLY" val="0"/>
</p:tagLst>
</file>

<file path=ppt/tags/tag34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5_1"/>
  <p:tag name="KSO_WM_UNIT_ID" val="diagram20230939_4*m_h_f*1_5_1"/>
  <p:tag name="KSO_WM_TEMPLATE_CATEGORY" val="diagram"/>
  <p:tag name="KSO_WM_TEMPLATE_INDEX" val="20230939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21.1000061035156,&quot;width&quot;:86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60"/>
  <p:tag name="KSO_WM_UNIT_TEXT_TYPE" val="1"/>
  <p:tag name="KSO_WM_UNIT_TEXT_LAYER_COUNT" val="1"/>
  <p:tag name="KSO_WM_BEAUTIFY_FLAG" val="#wm#"/>
  <p:tag name="KSO_WM_UNIT_PRESET_TEXT" val="文字是您思想的提炼，请言简意赅的阐述观点"/>
  <p:tag name="KSO_WM_UNIT_TEXT_FILL_FORE_SCHEMECOLOR_INDEX" val="1"/>
  <p:tag name="KSO_WM_UNIT_TEXT_FILL_TYPE" val="1"/>
  <p:tag name="KSO_WM_UNIT_USESOURCEFORMAT_APPLY" val="0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4*m_h_i*1_5_2"/>
  <p:tag name="KSO_WM_TEMPLATE_CATEGORY" val="diagram"/>
  <p:tag name="KSO_WM_TEMPLATE_INDEX" val="20230939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TYPE" val="m_h_i"/>
  <p:tag name="KSO_WM_UNIT_INDEX" val="1_5_2"/>
  <p:tag name="KSO_WM_DIAGRAM_MAX_ITEMCNT" val="6"/>
  <p:tag name="KSO_WM_DIAGRAM_MIN_ITEMCNT" val="2"/>
  <p:tag name="KSO_WM_DIAGRAM_VIRTUALLY_FRAME" val="{&quot;height&quot;:321.1000061035156,&quot;width&quot;:867}"/>
  <p:tag name="KSO_WM_DIAGRAM_COLOR_MATCH_VALUE" val="{&quot;shape&quot;:{&quot;fill&quot;:{&quot;solid&quot;:{&quot;brightness&quot;:0,&quot;colorType&quot;:1,&quot;foreColorIndex&quot;:9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9"/>
  <p:tag name="KSO_WM_UNIT_FILL_FORE_SCHEMECOLOR_INDEX_BRIGHTNESS" val="0"/>
  <p:tag name="KSO_WM_UNIT_TEXT_FILL_FORE_SCHEMECOLOR_INDEX" val="2"/>
  <p:tag name="KSO_WM_UNIT_TEXT_FILL_TYPE" val="1"/>
  <p:tag name="KSO_WM_UNIT_USESOURCEFORMAT_APPLY" val="0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4*m_h_a*1_5_2"/>
  <p:tag name="KSO_WM_TEMPLATE_CATEGORY" val="diagram"/>
  <p:tag name="KSO_WM_TEMPLATE_INDEX" val="20230939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ISCONTENTSTITLE" val="0"/>
  <p:tag name="KSO_WM_UNIT_ISNUMDGMTITLE" val="0"/>
  <p:tag name="KSO_WM_UNIT_NOCLEAR" val="0"/>
  <p:tag name="KSO_WM_UNIT_TYPE" val="m_h_a"/>
  <p:tag name="KSO_WM_UNIT_INDEX" val="1_5_2"/>
  <p:tag name="KSO_WM_DIAGRAM_MAX_ITEMCNT" val="6"/>
  <p:tag name="KSO_WM_DIAGRAM_MIN_ITEMCNT" val="2"/>
  <p:tag name="KSO_WM_DIAGRAM_VIRTUALLY_FRAME" val="{&quot;height&quot;:321.1000061035156,&quot;width&quot;:867}"/>
  <p:tag name="KSO_WM_DIAGRAM_COLOR_MATCH_VALUE" val="{&quot;shape&quot;:{&quot;fill&quot;:{&quot;solid&quot;:{&quot;brightness&quot;:0,&quot;colorType&quot;:1,&quot;foreColorIndex&quot;:9,&quot;transparency&quot;:0},&quot;type&quot;:1},&quot;glow&quot;:{&quot;colorType&quot;:0},&quot;line&quot;:{&quot;type&quot;:0},&quot;shadow&quot;:{&quot;brightness&quot;:0.800000011920929,&quot;colorType&quot;:1,&quot;foreColorIndex&quot;:5,&quot;transparency&quot;:0.400000005960464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PRESET_TEXT" val="添加标题"/>
  <p:tag name="KSO_WM_UNIT_FILL_TYPE" val="1"/>
  <p:tag name="KSO_WM_UNIT_FILL_FORE_SCHEMECOLOR_INDEX" val="9"/>
  <p:tag name="KSO_WM_UNIT_FILL_FORE_SCHEMECOLOR_INDEX_BRIGHTNESS" val="0"/>
  <p:tag name="KSO_WM_UNIT_TEXT_TYPE" val="1"/>
  <p:tag name="KSO_WM_UNIT_SHADOW_SCHEMECOLOR_INDEX" val="5"/>
  <p:tag name="KSO_WM_UNIT_USESOURCEFORMAT_APPLY" val="0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4*m_h_i*1_5_1"/>
  <p:tag name="KSO_WM_TEMPLATE_CATEGORY" val="diagram"/>
  <p:tag name="KSO_WM_TEMPLATE_INDEX" val="20230939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TYPE" val="m_h_i"/>
  <p:tag name="KSO_WM_UNIT_INDEX" val="1_5_1"/>
  <p:tag name="KSO_WM_DIAGRAM_MAX_ITEMCNT" val="6"/>
  <p:tag name="KSO_WM_DIAGRAM_MIN_ITEMCNT" val="2"/>
  <p:tag name="KSO_WM_DIAGRAM_VIRTUALLY_FRAME" val="{&quot;height&quot;:321.1000061035156,&quot;width&quot;:867}"/>
  <p:tag name="KSO_WM_DIAGRAM_COLOR_MATCH_VALUE" val="{&quot;shape&quot;:{&quot;fill&quot;:{&quot;type&quot;:0},&quot;glow&quot;:{&quot;colorType&quot;:0},&quot;line&quot;:{&quot;gradient&quot;:[{&quot;brightness&quot;:0,&quot;colorType&quot;:2,&quot;pos&quot;:0,&quot;rgb&quot;:&quot;#ffffff&quot;,&quot;transparency&quot;:0.550000011920929},{&quot;brightness&quot;:0,&quot;colorType&quot;:2,&quot;pos&quot;:1,&quot;rgb&quot;:&quot;#ffffff&quot;,&quot;transparency&quot;:0.550000011920929},{&quot;brightness&quot;:0,&quot;colorType&quot;:2,&quot;pos&quot;:0.75,&quot;rgb&quot;:&quot;#ffffff&quot;,&quot;transparency&quot;:1},{&quot;brightness&quot;:0,&quot;colorType&quot;:2,&quot;pos&quot;:0.25,&quot;rgb&quot;:&quot;#ffffff&quot;,&quot;transparency&quot;:1}],&quot;type&quot;:2},&quot;shadow&quot;:{&quot;brightness&quot;:-0.25,&quot;colorType&quot;:1,&quot;foreColorIndex&quot;:9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SHADOW_SCHEMECOLOR_INDEX" val="9"/>
  <p:tag name="KSO_WM_UNIT_TEXT_FILL_FORE_SCHEMECOLOR_INDEX" val="2"/>
  <p:tag name="KSO_WM_UNIT_TEXT_FILL_TYPE" val="1"/>
  <p:tag name="KSO_WM_UNIT_USESOURCEFORMAT_APPLY" val="0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4*m_h_i*1_5_3"/>
  <p:tag name="KSO_WM_TEMPLATE_CATEGORY" val="diagram"/>
  <p:tag name="KSO_WM_TEMPLATE_INDEX" val="20230939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TYPE" val="m_h_i"/>
  <p:tag name="KSO_WM_UNIT_INDEX" val="1_5_3"/>
  <p:tag name="KSO_WM_DIAGRAM_MAX_ITEMCNT" val="6"/>
  <p:tag name="KSO_WM_DIAGRAM_MIN_ITEMCNT" val="2"/>
  <p:tag name="KSO_WM_DIAGRAM_VIRTUALLY_FRAME" val="{&quot;height&quot;:321.1000061035156,&quot;width&quot;:867}"/>
  <p:tag name="KSO_WM_DIAGRAM_COLOR_MATCH_VALUE" val="{&quot;shape&quot;:{&quot;fill&quot;:{&quot;type&quot;:0},&quot;glow&quot;:{&quot;colorType&quot;:0},&quot;line&quot;:{&quot;solidLine&quot;:{&quot;brightness&quot;:0,&quot;colorType&quot;:1,&quot;foreColorIndex&quot;:9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9"/>
  <p:tag name="KSO_WM_UNIT_LINE_FILL_TYPE" val="2"/>
  <p:tag name="KSO_WM_UNIT_TEXT_FILL_FORE_SCHEMECOLOR_INDEX" val="13"/>
  <p:tag name="KSO_WM_UNIT_TEXT_FILL_TYPE" val="1"/>
  <p:tag name="KSO_WM_UNIT_USESOURCEFORMAT_APPLY" val="0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4*m_h_x*1_1_1"/>
  <p:tag name="KSO_WM_TEMPLATE_CATEGORY" val="diagram"/>
  <p:tag name="KSO_WM_TEMPLATE_INDEX" val="20230939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VALUE" val="78*72"/>
  <p:tag name="KSO_WM_UNIT_TYPE" val="m_h_x"/>
  <p:tag name="KSO_WM_UNIT_INDEX" val="1_1_1"/>
  <p:tag name="KSO_WM_DIAGRAM_MAX_ITEMCNT" val="6"/>
  <p:tag name="KSO_WM_DIAGRAM_MIN_ITEMCNT" val="2"/>
  <p:tag name="KSO_WM_DIAGRAM_VIRTUALLY_FRAME" val="{&quot;height&quot;:321.1000061035156,&quot;width&quot;:867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USESOURCEFORMAT_APPLY" val="0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4*m_h_x*1_2_1"/>
  <p:tag name="KSO_WM_TEMPLATE_CATEGORY" val="diagram"/>
  <p:tag name="KSO_WM_TEMPLATE_INDEX" val="20230939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VALUE" val="82*70"/>
  <p:tag name="KSO_WM_UNIT_TYPE" val="m_h_x"/>
  <p:tag name="KSO_WM_UNIT_INDEX" val="1_2_1"/>
  <p:tag name="KSO_WM_DIAGRAM_MAX_ITEMCNT" val="6"/>
  <p:tag name="KSO_WM_DIAGRAM_MIN_ITEMCNT" val="2"/>
  <p:tag name="KSO_WM_DIAGRAM_VIRTUALLY_FRAME" val="{&quot;height&quot;:321.1000061035156,&quot;width&quot;:867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USESOURCEFORMAT_APPLY" val="0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4*m_h_x*1_3_1"/>
  <p:tag name="KSO_WM_TEMPLATE_CATEGORY" val="diagram"/>
  <p:tag name="KSO_WM_TEMPLATE_INDEX" val="20230939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VALUE" val="77*82"/>
  <p:tag name="KSO_WM_UNIT_TYPE" val="m_h_x"/>
  <p:tag name="KSO_WM_UNIT_INDEX" val="1_3_1"/>
  <p:tag name="KSO_WM_DIAGRAM_MAX_ITEMCNT" val="6"/>
  <p:tag name="KSO_WM_DIAGRAM_MIN_ITEMCNT" val="2"/>
  <p:tag name="KSO_WM_DIAGRAM_VIRTUALLY_FRAME" val="{&quot;height&quot;:321.1000061035156,&quot;width&quot;:867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USESOURCEFORMAT_APPLY" val="0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4*m_h_x*1_4_1"/>
  <p:tag name="KSO_WM_TEMPLATE_CATEGORY" val="diagram"/>
  <p:tag name="KSO_WM_TEMPLATE_INDEX" val="20230939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VALUE" val="80*82"/>
  <p:tag name="KSO_WM_UNIT_TYPE" val="m_h_x"/>
  <p:tag name="KSO_WM_UNIT_INDEX" val="1_4_1"/>
  <p:tag name="KSO_WM_DIAGRAM_MAX_ITEMCNT" val="6"/>
  <p:tag name="KSO_WM_DIAGRAM_MIN_ITEMCNT" val="2"/>
  <p:tag name="KSO_WM_DIAGRAM_VIRTUALLY_FRAME" val="{&quot;height&quot;:321.1000061035156,&quot;width&quot;:867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USESOURCEFORMAT_APPLY" val="0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4*m_h_x*1_5_1"/>
  <p:tag name="KSO_WM_TEMPLATE_CATEGORY" val="diagram"/>
  <p:tag name="KSO_WM_TEMPLATE_INDEX" val="20230939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VALUE" val="83*83"/>
  <p:tag name="KSO_WM_UNIT_TYPE" val="m_h_x"/>
  <p:tag name="KSO_WM_UNIT_INDEX" val="1_5_1"/>
  <p:tag name="KSO_WM_DIAGRAM_MAX_ITEMCNT" val="6"/>
  <p:tag name="KSO_WM_DIAGRAM_MIN_ITEMCNT" val="2"/>
  <p:tag name="KSO_WM_DIAGRAM_VIRTUALLY_FRAME" val="{&quot;height&quot;:321.1000061035156,&quot;width&quot;:867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USESOURCEFORMAT_APPLY" val="0"/>
</p:tagLst>
</file>

<file path=ppt/tags/tag44.xml><?xml version="1.0" encoding="utf-8"?>
<p:tagLst xmlns:p="http://schemas.openxmlformats.org/presentationml/2006/main">
  <p:tag name="KSO_WM_BEAUTIFY_FLAG" val="#wm#"/>
  <p:tag name="KSO_WM_TEMPLATE_CATEGORY" val="custom"/>
  <p:tag name="KSO_WM_TEMPLATE_INDEX" val="40492897"/>
  <p:tag name="KSO_WM_SPECIAL_SOURCE" val="bdnull"/>
  <p:tag name="KSO_WM_SLIDE_ID" val="diagram20230939_4"/>
  <p:tag name="KSO_WM_TEMPLATE_SUBCATEGORY" val="0"/>
  <p:tag name="KSO_WM_TEMPLATE_MASTER_TYPE" val="0"/>
  <p:tag name="KSO_WM_TEMPLATE_COLOR_TYPE" val="0"/>
  <p:tag name="KSO_WM_SLIDE_ITEM_CNT" val="5"/>
  <p:tag name="KSO_WM_SLIDE_INDEX" val="4"/>
  <p:tag name="KSO_WM_DIAGRAM_GROUP_CODE" val="m1-1"/>
  <p:tag name="KSO_WM_SLIDE_DIAGTYPE" val="m"/>
  <p:tag name="KSO_WM_TAG_VERSION" val="3.0"/>
  <p:tag name="KSO_WM_SLIDE_LAYOUT" val="a_m"/>
  <p:tag name="KSO_WM_SLIDE_LAYOUT_CNT" val="1_1"/>
  <p:tag name="KSO_WM_SLIDE_TYPE" val="text"/>
  <p:tag name="KSO_WM_SLIDE_SUBTYPE" val="diag"/>
  <p:tag name="KSO_WM_SLIDE_SIZE" val="867*313.45"/>
  <p:tag name="KSO_WM_SLIDE_POSITION" val="48.75*178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Verdan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Verdan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4915</Words>
  <Application>WPS 演示</Application>
  <PresentationFormat>On-screen Show (16:9)</PresentationFormat>
  <Paragraphs>532</Paragraphs>
  <Slides>15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32" baseType="lpstr">
      <vt:lpstr>Arial</vt:lpstr>
      <vt:lpstr>宋体</vt:lpstr>
      <vt:lpstr>Wingdings</vt:lpstr>
      <vt:lpstr>Verdana</vt:lpstr>
      <vt:lpstr>Verdana</vt:lpstr>
      <vt:lpstr>Verdana</vt:lpstr>
      <vt:lpstr>宋体</vt:lpstr>
      <vt:lpstr>汉仪书宋二KW</vt:lpstr>
      <vt:lpstr>微软雅黑</vt:lpstr>
      <vt:lpstr>汉仪旗黑</vt:lpstr>
      <vt:lpstr>Arial Unicode MS</vt:lpstr>
      <vt:lpstr>等线</vt:lpstr>
      <vt:lpstr>汉仪中等线KW</vt:lpstr>
      <vt:lpstr>Calibri</vt:lpstr>
      <vt:lpstr>Helvetica Neue</vt:lpstr>
      <vt:lpstr>等线 Light</vt:lpstr>
      <vt:lpstr>Office Theme</vt:lpstr>
      <vt:lpstr>慢病风险分层、行为干预与 MDT 在线协作平台</vt:lpstr>
      <vt:lpstr>单击此处添加标题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MoKangMedical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慢病风险分层、行为干预与 MDT 在线协作平台_虾客松模板版</dc:title>
  <dc:creator>OpenAI Codex</dc:creator>
  <dc:subject>灵核AI虾客松模板版：慢病风险分层、行为干预与 MDT 在线协作平台</dc:subject>
  <cp:lastModifiedBy>Lin Zhang</cp:lastModifiedBy>
  <cp:revision>2</cp:revision>
  <dcterms:created xsi:type="dcterms:W3CDTF">2026-03-29T11:31:37Z</dcterms:created>
  <dcterms:modified xsi:type="dcterms:W3CDTF">2026-03-29T11:31:37Z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8EC7550C41ACB147990DC969CEC6DBAF_42</vt:lpwstr>
  </property>
  <property fmtid="{D5CDD505-2E9C-101B-9397-08002B2CF9AE}" pid="3" name="KSOProductBuildVer">
    <vt:lpwstr>2052-12.1.25205.25205</vt:lpwstr>
  </property>
</Properties>
</file>